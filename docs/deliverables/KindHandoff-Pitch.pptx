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05d562f1c14880" /><Relationship Type="http://schemas.openxmlformats.org/officeDocument/2006/relationships/extended-properties" Target="/docProps/app.xml" Id="Raeaed7cc81ef4b2b" /><Relationship Type="http://schemas.openxmlformats.org/officeDocument/2006/relationships/officeDocument" Target="/ppt/presentation.xml" Id="Rb3a49024a12b407c" /></Relationships>
</file>

<file path=ppt/presentation.xml><?xml version="1.0" encoding="utf-8"?>
<p:presentation xmlns:p="http://schemas.openxmlformats.org/presentationml/2006/main">
  <p:sldMasterIdLst>
    <p:sldMasterId xmlns:r="http://schemas.openxmlformats.org/officeDocument/2006/relationships" id="2147483648" r:id="R7373a57611f74250"/>
  </p:sldMasterIdLst>
  <p:notesMasterIdLst>
    <p:notesMasterId xmlns:r="http://schemas.openxmlformats.org/officeDocument/2006/relationships" r:id="R5650085b477b40bb"/>
  </p:notesMasterIdLst>
  <p:sldIdLst>
    <p:sldId xmlns:r="http://schemas.openxmlformats.org/officeDocument/2006/relationships" id="256" r:id="Rd527091ffde44689"/>
    <p:sldId xmlns:r="http://schemas.openxmlformats.org/officeDocument/2006/relationships" id="257" r:id="R4ba55b0609994550"/>
    <p:sldId xmlns:r="http://schemas.openxmlformats.org/officeDocument/2006/relationships" id="258" r:id="Rf1569ac8362f4e8d"/>
    <p:sldId xmlns:r="http://schemas.openxmlformats.org/officeDocument/2006/relationships" id="259" r:id="R234f5c32637a4bdc"/>
    <p:sldId xmlns:r="http://schemas.openxmlformats.org/officeDocument/2006/relationships" id="260" r:id="Rad3a15878c344a5a"/>
    <p:sldId xmlns:r="http://schemas.openxmlformats.org/officeDocument/2006/relationships" id="261" r:id="Rcaa943afc61a4717"/>
    <p:sldId xmlns:r="http://schemas.openxmlformats.org/officeDocument/2006/relationships" id="262" r:id="R3b939e14508b4ead"/>
    <p:sldId xmlns:r="http://schemas.openxmlformats.org/officeDocument/2006/relationships" id="263" r:id="R6309a4cf08154a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2f9faaac4e4fcc" /><Relationship Type="http://schemas.openxmlformats.org/officeDocument/2006/relationships/slideMaster" Target="/ppt/slideMasters/slideMaster1.xml" Id="R7373a57611f74250" /><Relationship Type="http://schemas.openxmlformats.org/officeDocument/2006/relationships/notesMaster" Target="/ppt/notesMasters/notesMaster1.xml" Id="R5650085b477b40bb" /><Relationship Type="http://schemas.openxmlformats.org/officeDocument/2006/relationships/presProps" Target="/ppt/presProps.xml" Id="Rf90a10654bd84621" /><Relationship Type="http://schemas.openxmlformats.org/officeDocument/2006/relationships/tableStyles" Target="/ppt/tableStyles.xml" Id="Rddfe048c0f0647bb" /><Relationship Type="http://schemas.openxmlformats.org/officeDocument/2006/relationships/slide" Target="/ppt/slides/slide1.xml" Id="Rd527091ffde44689" /><Relationship Type="http://schemas.openxmlformats.org/officeDocument/2006/relationships/slide" Target="/ppt/slides/slide2.xml" Id="R4ba55b0609994550" /><Relationship Type="http://schemas.openxmlformats.org/officeDocument/2006/relationships/slide" Target="/ppt/slides/slide3.xml" Id="Rf1569ac8362f4e8d" /><Relationship Type="http://schemas.openxmlformats.org/officeDocument/2006/relationships/slide" Target="/ppt/slides/slide4.xml" Id="R234f5c32637a4bdc" /><Relationship Type="http://schemas.openxmlformats.org/officeDocument/2006/relationships/slide" Target="/ppt/slides/slide5.xml" Id="Rad3a15878c344a5a" /><Relationship Type="http://schemas.openxmlformats.org/officeDocument/2006/relationships/slide" Target="/ppt/slides/slide6.xml" Id="Rcaa943afc61a4717" /><Relationship Type="http://schemas.openxmlformats.org/officeDocument/2006/relationships/slide" Target="/ppt/slides/slide7.xml" Id="R3b939e14508b4ead" /><Relationship Type="http://schemas.openxmlformats.org/officeDocument/2006/relationships/slide" Target="/ppt/slides/slide8.xml" Id="R6309a4cf08154a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604ee3b44448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cca8f015414798" /><Relationship Type="http://schemas.openxmlformats.org/officeDocument/2006/relationships/notesMaster" Target="/ppt/notesMasters/notesMaster1.xml" Id="R114e360505b74b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1aadb34c654065" /><Relationship Type="http://schemas.openxmlformats.org/officeDocument/2006/relationships/notesMaster" Target="/ppt/notesMasters/notesMaster1.xml" Id="R88e50104ed2d4a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666f6e733d40cc" /><Relationship Type="http://schemas.openxmlformats.org/officeDocument/2006/relationships/notesMaster" Target="/ppt/notesMasters/notesMaster1.xml" Id="Rdf96fda50d2242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79e724e39f420c" /><Relationship Type="http://schemas.openxmlformats.org/officeDocument/2006/relationships/notesMaster" Target="/ppt/notesMasters/notesMaster1.xml" Id="R82bbb774f6b444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617edabce4476c" /><Relationship Type="http://schemas.openxmlformats.org/officeDocument/2006/relationships/notesMaster" Target="/ppt/notesMasters/notesMaster1.xml" Id="Rb37dccbf80b749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441da1c2dd46c4" /><Relationship Type="http://schemas.openxmlformats.org/officeDocument/2006/relationships/notesMaster" Target="/ppt/notesMasters/notesMaster1.xml" Id="R763388ca19454f71"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979a82b0284107" /><Relationship Type="http://schemas.openxmlformats.org/officeDocument/2006/relationships/notesMaster" Target="/ppt/notesMasters/notesMaster1.xml" Id="Radd4889eb54243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ac83e95872a647a3" /><Relationship Type="http://schemas.openxmlformats.org/officeDocument/2006/relationships/notesMaster" Target="/ppt/notesMasters/notesMaster1.xml" Id="R6a3e8039c5ea40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KindHandoff is a new practical-support coordination project by Shivam Gupta. The diagram represents an illustrative household, not customer evidence. Maya becomes unavailable for both the bag task from 14:30 to 14:45 and ride from 15:00 to 16:00. The ride depends on the bag task. Main repository: https://github.com/shi1720/Amazon-Developer-Hackathon. No live Alexa deployment or commercial traction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product scenario supplied for this deck. The deterministic planner proposes Jo for the 14:30–14:45 bag task because she can access the house during that interval. Dev can provide the 15:00–16:00 ride but cannot cover the earlier bag interval because his availability starts at 14:45. A feasible proposal is not an accepted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describes workflow states, not measured test results. The named helper must accept their own offer. Acceptance alone does not remove the dependency. The ride becomes ready only after Jo records bag completion. The product records brief acknowledgment against the version read. An accepted task is a recorded commitment, not proof of real-world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supplied by the implementation team. MCP server uses @modelcontextprotocol/sdk 1.30.0, Web Standard Streamable HTTP, and protocol 2025-11-25 on a Cloudflare Worker. Authenticated tools validate inputs and membership, use deterministic planning and @kindhandoff/guard, and write household-scoped data to D1 with optimistic version checks / compare-and-swap. Owner identity uses ChatGPT sign-in and helpers use secure one-time invitations. The guard library provides state transitions, coverage accounting, and candidate ranking. App code owns dependency readiness, exact identity authorization, and contentVersion brief acknowledgments. The deterministic browser language simulator uses Client and StreamableHTTPClientTransport to make real HTTP MCP initialize and tools/call requests. External MCP clients use the same server. No test pass count, load-test result, native Alexa connection, or cloud LLM use is asserted. Amazon documentation: https://developer.amazon.com/docs/alexaplus/add-ons/mcp-toolkit-overview.html and https://www.developer.amazon.com/docs/alexaplus/add-ons/mcp-toolkit-quickstart.html.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reviewed 15 September 2026. Caring Village official features: https://caringvillage.com/app/ . Family CareRelay official product page: https://www.familycarerelay.com/ . Both describe substantial overlap with generic care coordination; voice logging and summaries alone are not claimed as novel. KindHandoff focuses on constraint-aware recovery, exact helper acceptance, and dependency readiness. This is a published-feature comparison, not a hands-on competitive benchmark. Group chat and calendar are the practical adoption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$12 per household per month price is an unvalidated hypothesis. The market-and-business.md brief proposes testing a $9–15 range after real use. All helpers are included to avoid a seat-pricing incentive against participation. No traction or financial results exist in the materials provided. The cost brief is arithmetic from declared Workers/D1 assumptions, not an observed cost of operating KindHandoff. Runtime costs exclude managed hosting, identity-provider charges, support, acquisition, and optional model calls. Related category price reference: https://caringvillage.com/pricing/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research plan. Ten qualitative interviews include six primary coordinators, two helpers, and two adults receiving support. Five consenting households with at least three participants each would enter a four-week pilot after a baseline diary. Primary metric is time from a cancellation to accepted feasible replacement of all affected commitments. Secondary evidence includes follow-up effort, repeated helper participation, and voluntary paid continuation. Planned targets and detailed limitations are in customer-discovery.md. No interviews or pilots are reported as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Creator: Shivam Gupta. Main repository: https://github.com/shi1720/Amazon-Developer-Hackathon. Preview target: https://shivam-amazon-hackathon.sg127977958.chatgpt.site. At authoring time deployment is pending, so this deck labels the URL as preview only. No public video URL has been claimed. The additional Open Source contribution is @kindhandoff/guard with an MIT license; verify the published separate repository and contribution link before final submission. Next steps include recording a public English video under three minutes, household research, and live Alexa+ onboarding where access permits.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4ced607db142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1fd09964b94801" /><Relationship Type="http://schemas.openxmlformats.org/officeDocument/2006/relationships/slideLayout" Target="/ppt/slideLayouts/slideLayout1.xml" Id="R39dce28a57b24d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dce28a57b24d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f52c21deb34329" /><Relationship Type="http://schemas.openxmlformats.org/officeDocument/2006/relationships/notesSlide" Target="/ppt/notesSlides/notesSlide1.xml" Id="Rb8c239243ebf41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afb337723aa4732" /><Relationship Type="http://schemas.openxmlformats.org/officeDocument/2006/relationships/notesSlide" Target="/ppt/notesSlides/notesSlide2.xml" Id="Rd7ae7812e0b443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d6b14ff46e4722" /><Relationship Type="http://schemas.openxmlformats.org/officeDocument/2006/relationships/notesSlide" Target="/ppt/notesSlides/notesSlide3.xml" Id="R06e47267706148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4043b8dad874e13" /><Relationship Type="http://schemas.openxmlformats.org/officeDocument/2006/relationships/notesSlide" Target="/ppt/notesSlides/notesSlide4.xml" Id="R5f20d26d413442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ae818e313f4753" /><Relationship Type="http://schemas.openxmlformats.org/officeDocument/2006/relationships/notesSlide" Target="/ppt/notesSlides/notesSlide5.xml" Id="Rc6bd5526760c4a5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389288a7f174b42" /><Relationship Type="http://schemas.openxmlformats.org/officeDocument/2006/relationships/notesSlide" Target="/ppt/notesSlides/notesSlide6.xml" Id="R676159126a1f432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028e9a9f82c45b1" /><Relationship Type="http://schemas.openxmlformats.org/officeDocument/2006/relationships/notesSlide" Target="/ppt/notesSlides/notesSlide7.xml" Id="Rade46ddf1dea495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754c4aa1ed346cd" /><Relationship Type="http://schemas.openxmlformats.org/officeDocument/2006/relationships/hyperlink" Target="https://github.com/shi1720/Amazon-Developer-Hackathon" TargetMode="External" Id="R64360b5a980d4b36" /><Relationship Type="http://schemas.openxmlformats.org/officeDocument/2006/relationships/notesSlide" Target="/ppt/notesSlides/notesSlide8.xml" Id="R4c62aa5b071a4634" /></Relationships>
</file>

<file path=ppt/slides/slide1.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5" name="wordmark">
            <a:extLst xmlns:a="http://schemas.openxmlformats.org/drawingml/2006/main">
              <a:ext uri="{FF2B5EF4-FFF2-40B4-BE49-F238E27FC236}">
                <a16:creationId xmlns:a16="http://schemas.microsoft.com/office/drawing/2014/main" id="{1938B4F6-FC78-48E2-8306-8D32B197F313}"/>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8413B591-4D46-47FA-9D7B-3285939DB6F1}"/>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01</a:t>
            </a:r>
          </a:p>
        </p:txBody>
      </p:sp>
      <p:sp>
        <p:nvSpPr>
          <p:cNvPr id="3" name="cover-title">
            <a:extLst xmlns:a="http://schemas.openxmlformats.org/drawingml/2006/main">
              <a:ext uri="{FF2B5EF4-FFF2-40B4-BE49-F238E27FC236}">
                <a16:creationId xmlns:a16="http://schemas.microsoft.com/office/drawing/2014/main" id="{6AB76B3C-9FE7-4A9E-A473-25FB2BD2D616}"/>
              </a:ext>
            </a:extLst>
          </p:cNvPr>
          <p:cNvSpPr>
            <a:spLocks xmlns:a="http://schemas.openxmlformats.org/drawingml/2006/main" noGrp="1"/>
          </p:cNvSpPr>
          <p:nvPr/>
        </p:nvSpPr>
        <p:spPr>
          <a:xfrm xmlns:a="http://schemas.openxmlformats.org/drawingml/2006/main">
            <a:off x="609600" y="1438275"/>
            <a:ext cx="68770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Family support,</a:t>
            </a:r>
          </a:p>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when plans change</a:t>
            </a:r>
          </a:p>
        </p:txBody>
      </p:sp>
      <p:sp>
        <p:nvSpPr>
          <p:cNvPr id="4" name="cover-problem">
            <a:extLst xmlns:a="http://schemas.openxmlformats.org/drawingml/2006/main">
              <a:ext uri="{FF2B5EF4-FFF2-40B4-BE49-F238E27FC236}">
                <a16:creationId xmlns:a16="http://schemas.microsoft.com/office/drawing/2014/main" id="{CF3CC5E8-7FDA-45E0-95ED-1D474502FEE6}"/>
              </a:ext>
            </a:extLst>
          </p:cNvPr>
          <p:cNvSpPr>
            <a:spLocks xmlns:a="http://schemas.openxmlformats.org/drawingml/2006/main" noGrp="1"/>
          </p:cNvSpPr>
          <p:nvPr/>
        </p:nvSpPr>
        <p:spPr>
          <a:xfrm xmlns:a="http://schemas.openxmlformats.org/drawingml/2006/main">
            <a:off x="609600" y="3562350"/>
            <a:ext cx="6429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A cancelled afternoon leaves</a:t>
            </a:r>
          </a:p>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two commitments to recover.</a:t>
            </a:r>
          </a:p>
        </p:txBody>
      </p:sp>
      <p:sp>
        <p:nvSpPr>
          <p:cNvPr id="5" name="creator">
            <a:extLst xmlns:a="http://schemas.openxmlformats.org/drawingml/2006/main">
              <a:ext uri="{FF2B5EF4-FFF2-40B4-BE49-F238E27FC236}">
                <a16:creationId xmlns:a16="http://schemas.microsoft.com/office/drawing/2014/main" id="{333F0F9C-D278-4044-886F-22344F1B625D}"/>
              </a:ext>
            </a:extLst>
          </p:cNvPr>
          <p:cNvSpPr>
            <a:spLocks xmlns:a="http://schemas.openxmlformats.org/drawingml/2006/main" noGrp="1"/>
          </p:cNvSpPr>
          <p:nvPr/>
        </p:nvSpPr>
        <p:spPr>
          <a:xfrm xmlns:a="http://schemas.openxmlformats.org/drawingml/2006/main">
            <a:off x="609600" y="557212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Noto Sans"/>
                <a:ea typeface="Noto Sans"/>
                <a:cs typeface="Noto Sans"/>
              </a:defRPr>
            </a:pPr>
            <a:r>
              <a:rPr sz="1800" b="1">
                <a:solidFill>
                  <a:srgbClr val="FFFFFF"/>
                </a:solidFill>
                <a:latin typeface="Noto Sans"/>
                <a:ea typeface="Noto Sans"/>
                <a:cs typeface="Noto Sans"/>
              </a:rPr>
              <a:t>Created by Shivam Gupta</a:t>
            </a:r>
          </a:p>
        </p:txBody>
      </p:sp>
      <p:sp>
        <p:nvSpPr>
          <p:cNvPr id="6" name="bag-node">
            <a:extLst xmlns:a="http://schemas.openxmlformats.org/drawingml/2006/main">
              <a:ext uri="{FF2B5EF4-FFF2-40B4-BE49-F238E27FC236}">
                <a16:creationId xmlns:a16="http://schemas.microsoft.com/office/drawing/2014/main" id="{CE11B707-58E1-4638-8B22-24F4B0F96C72}"/>
              </a:ext>
            </a:extLst>
          </p:cNvPr>
          <p:cNvSpPr>
            <a:spLocks xmlns:a="http://schemas.openxmlformats.org/drawingml/2006/main" noGrp="1"/>
          </p:cNvSpPr>
          <p:nvPr/>
        </p:nvSpPr>
        <p:spPr>
          <a:xfrm xmlns:a="http://schemas.openxmlformats.org/drawingml/2006/main">
            <a:off x="8153400" y="169545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7" name="bag-time">
            <a:extLst xmlns:a="http://schemas.openxmlformats.org/drawingml/2006/main">
              <a:ext uri="{FF2B5EF4-FFF2-40B4-BE49-F238E27FC236}">
                <a16:creationId xmlns:a16="http://schemas.microsoft.com/office/drawing/2014/main" id="{454F79AB-79C7-44BB-947E-821D04CD5497}"/>
              </a:ext>
            </a:extLst>
          </p:cNvPr>
          <p:cNvSpPr>
            <a:spLocks xmlns:a="http://schemas.openxmlformats.org/drawingml/2006/main" noGrp="1"/>
          </p:cNvSpPr>
          <p:nvPr/>
        </p:nvSpPr>
        <p:spPr>
          <a:xfrm xmlns:a="http://schemas.openxmlformats.org/drawingml/2006/main">
            <a:off x="8372475" y="18764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14:30–14:45</a:t>
            </a:r>
          </a:p>
        </p:txBody>
      </p:sp>
      <p:sp>
        <p:nvSpPr>
          <p:cNvPr id="8" name="bag-task">
            <a:extLst xmlns:a="http://schemas.openxmlformats.org/drawingml/2006/main">
              <a:ext uri="{FF2B5EF4-FFF2-40B4-BE49-F238E27FC236}">
                <a16:creationId xmlns:a16="http://schemas.microsoft.com/office/drawing/2014/main" id="{0AE57E39-2949-4211-9915-E57D7EC79576}"/>
              </a:ext>
            </a:extLst>
          </p:cNvPr>
          <p:cNvSpPr>
            <a:spLocks xmlns:a="http://schemas.openxmlformats.org/drawingml/2006/main" noGrp="1"/>
          </p:cNvSpPr>
          <p:nvPr/>
        </p:nvSpPr>
        <p:spPr>
          <a:xfrm xmlns:a="http://schemas.openxmlformats.org/drawingml/2006/main">
            <a:off x="8372475" y="228600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Pack library bag</a:t>
            </a:r>
          </a:p>
        </p:txBody>
      </p:sp>
      <p:sp>
        <p:nvSpPr>
          <p:cNvPr id="9" name="ride-node">
            <a:extLst xmlns:a="http://schemas.openxmlformats.org/drawingml/2006/main">
              <a:ext uri="{FF2B5EF4-FFF2-40B4-BE49-F238E27FC236}">
                <a16:creationId xmlns:a16="http://schemas.microsoft.com/office/drawing/2014/main" id="{B1E07D74-7A54-4631-AB90-24A838F797B8}"/>
              </a:ext>
            </a:extLst>
          </p:cNvPr>
          <p:cNvSpPr>
            <a:spLocks xmlns:a="http://schemas.openxmlformats.org/drawingml/2006/main" noGrp="1"/>
          </p:cNvSpPr>
          <p:nvPr/>
        </p:nvSpPr>
        <p:spPr>
          <a:xfrm xmlns:a="http://schemas.openxmlformats.org/drawingml/2006/main">
            <a:off x="8153400" y="381000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10" name="ride-time">
            <a:extLst xmlns:a="http://schemas.openxmlformats.org/drawingml/2006/main">
              <a:ext uri="{FF2B5EF4-FFF2-40B4-BE49-F238E27FC236}">
                <a16:creationId xmlns:a16="http://schemas.microsoft.com/office/drawing/2014/main" id="{E451D95D-9E8E-41B4-B097-E3803C1D9BC9}"/>
              </a:ext>
            </a:extLst>
          </p:cNvPr>
          <p:cNvSpPr>
            <a:spLocks xmlns:a="http://schemas.openxmlformats.org/drawingml/2006/main" noGrp="1"/>
          </p:cNvSpPr>
          <p:nvPr/>
        </p:nvSpPr>
        <p:spPr>
          <a:xfrm xmlns:a="http://schemas.openxmlformats.org/drawingml/2006/main">
            <a:off x="8372475" y="39909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15:00–16:00</a:t>
            </a:r>
          </a:p>
        </p:txBody>
      </p:sp>
      <p:sp>
        <p:nvSpPr>
          <p:cNvPr id="11" name="ride-task">
            <a:extLst xmlns:a="http://schemas.openxmlformats.org/drawingml/2006/main">
              <a:ext uri="{FF2B5EF4-FFF2-40B4-BE49-F238E27FC236}">
                <a16:creationId xmlns:a16="http://schemas.microsoft.com/office/drawing/2014/main" id="{90660B62-851C-4EC2-867D-DF2A4416293D}"/>
              </a:ext>
            </a:extLst>
          </p:cNvPr>
          <p:cNvSpPr>
            <a:spLocks xmlns:a="http://schemas.openxmlformats.org/drawingml/2006/main" noGrp="1"/>
          </p:cNvSpPr>
          <p:nvPr/>
        </p:nvSpPr>
        <p:spPr>
          <a:xfrm xmlns:a="http://schemas.openxmlformats.org/drawingml/2006/main">
            <a:off x="8372475" y="44005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Give the ride</a:t>
            </a:r>
          </a:p>
        </p:txBody>
      </p:sp>
      <p:cxnSp>
        <p:nvCxnSpPr>
          <p:cNvPr id="26" name="bag-to-ride-dependency"/>
          <p:cNvCxnSpPr>
            <a:stCxn xmlns:a="http://schemas.openxmlformats.org/drawingml/2006/main" id="6" idx="2"/>
            <a:endCxn xmlns:a="http://schemas.openxmlformats.org/drawingml/2006/main" id="9" idx="0"/>
          </p:cNvCxnSpPr>
          <p:nvPr/>
        </p:nvCxnSpPr>
        <p:spPr>
          <a:xfrm xmlns:a="http://schemas.openxmlformats.org/drawingml/2006/main">
            <a:off x="9705975" y="2971800"/>
            <a:ext cx="0" cy="838200"/>
          </a:xfrm>
          <a:prstGeom xmlns:a="http://schemas.openxmlformats.org/drawingml/2006/main" prst="straightConnector1">
            <a:avLst/>
          </a:prstGeom>
          <a:ln xmlns:a="http://schemas.openxmlformats.org/drawingml/2006/main" w="19050">
            <a:solidFill>
              <a:srgbClr val="AEBFD3"/>
            </a:solidFill>
            <a:prstDash val="solid"/>
            <a:tailEnd type="triangle" w="sm" len="sm"/>
          </a:ln>
        </p:spPr>
      </p:cxnSp>
      <p:sp>
        <p:nvSpPr>
          <p:cNvPr id="13" name="prerequisite-label">
            <a:extLst xmlns:a="http://schemas.openxmlformats.org/drawingml/2006/main">
              <a:ext uri="{FF2B5EF4-FFF2-40B4-BE49-F238E27FC236}">
                <a16:creationId xmlns:a16="http://schemas.microsoft.com/office/drawing/2014/main" id="{8B87F89B-29E8-4FED-999F-A6190F693BC3}"/>
              </a:ext>
            </a:extLst>
          </p:cNvPr>
          <p:cNvSpPr>
            <a:spLocks xmlns:a="http://schemas.openxmlformats.org/drawingml/2006/main" noGrp="1"/>
          </p:cNvSpPr>
          <p:nvPr/>
        </p:nvSpPr>
        <p:spPr>
          <a:xfrm xmlns:a="http://schemas.openxmlformats.org/drawingml/2006/main">
            <a:off x="10096500" y="32480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AEBFD3"/>
                </a:solidFill>
                <a:latin typeface="Noto Sans"/>
                <a:ea typeface="Noto Sans"/>
                <a:cs typeface="Noto Sans"/>
              </a:defRPr>
            </a:pPr>
            <a:r>
              <a:rPr sz="1350" b="0">
                <a:solidFill>
                  <a:srgbClr val="AEBFD3"/>
                </a:solidFill>
                <a:latin typeface="Noto Sans"/>
                <a:ea typeface="Noto Sans"/>
                <a:cs typeface="Noto Sans"/>
              </a:rPr>
              <a:t>Bag first</a:t>
            </a:r>
          </a:p>
        </p:txBody>
      </p:sp>
      <p:sp>
        <p:nvSpPr>
          <p:cNvPr id="14" name="footer">
            <a:extLst xmlns:a="http://schemas.openxmlformats.org/drawingml/2006/main">
              <a:ext uri="{FF2B5EF4-FFF2-40B4-BE49-F238E27FC236}">
                <a16:creationId xmlns:a16="http://schemas.microsoft.com/office/drawing/2014/main" id="{F2CC567A-07B0-4D2A-AA63-3116C464A9E2}"/>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AEBFD3"/>
                </a:solidFill>
                <a:latin typeface="Noto Sans"/>
                <a:ea typeface="Noto Sans"/>
                <a:cs typeface="Noto Sans"/>
              </a:defRPr>
            </a:pPr>
            <a:r>
              <a:rPr sz="1200" b="0">
                <a:solidFill>
                  <a:srgbClr val="AEBFD3"/>
                </a:solidFill>
                <a:latin typeface="Noto Sans"/>
                <a:ea typeface="Noto Sans"/>
                <a:cs typeface="Noto Sans"/>
              </a:rPr>
              <a:t>Alexa+ primary track. Fictional household shown.</a:t>
            </a:r>
          </a:p>
        </p:txBody>
      </p:sp>
    </p:spTree>
    <p:extLst>
      <p:ext uri="{BB962C8B-B14F-4D97-AF65-F5344CB8AC3E}">
        <p14:creationId xmlns:p14="http://schemas.microsoft.com/office/powerpoint/2010/main" val="1099373363"/>
      </p:ext>
    </p:extLst>
  </p:cSld>
</p:sld>
</file>

<file path=ppt/slides/slide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7" name="wordmark">
            <a:extLst xmlns:a="http://schemas.openxmlformats.org/drawingml/2006/main">
              <a:ext uri="{FF2B5EF4-FFF2-40B4-BE49-F238E27FC236}">
                <a16:creationId xmlns:a16="http://schemas.microsoft.com/office/drawing/2014/main" id="{BB42394C-ACBC-4343-BC75-4E01D55EF9FC}"/>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40B82117-F904-410F-81CB-584E04019698}"/>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02</a:t>
            </a:r>
          </a:p>
        </p:txBody>
      </p:sp>
      <p:sp>
        <p:nvSpPr>
          <p:cNvPr id="3" name="title">
            <a:extLst xmlns:a="http://schemas.openxmlformats.org/drawingml/2006/main">
              <a:ext uri="{FF2B5EF4-FFF2-40B4-BE49-F238E27FC236}">
                <a16:creationId xmlns:a16="http://schemas.microsoft.com/office/drawing/2014/main" id="{CEC542BF-33A5-424D-8E51-4CA44E355B97}"/>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workable split between helpers</a:t>
            </a:r>
          </a:p>
        </p:txBody>
      </p:sp>
      <p:sp>
        <p:nvSpPr>
          <p:cNvPr id="4" name="subtitle">
            <a:extLst xmlns:a="http://schemas.openxmlformats.org/drawingml/2006/main">
              <a:ext uri="{FF2B5EF4-FFF2-40B4-BE49-F238E27FC236}">
                <a16:creationId xmlns:a16="http://schemas.microsoft.com/office/drawing/2014/main" id="{0121A5DD-315B-46C0-823E-CBC021BA6D2C}"/>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Maya cannot help this afternoon. Both commitments need a replacement.</a:t>
            </a:r>
          </a:p>
        </p:txBody>
      </p:sp>
      <p:graphicFrame>
        <p:nvGraphicFramePr>
          <p:cNvPr id="11" name=""/>
          <p:cNvGraphicFramePr/>
          <p:nvPr/>
        </p:nvGraphicFramePr>
        <p:xfrm>
          <a:off xmlns:a="http://schemas.openxmlformats.org/drawingml/2006/main" x="609600" y="2857500"/>
          <a:ext xmlns:a="http://schemas.openxmlformats.org/drawingml/2006/main" cx="10972800" cy="2647950"/>
        </p:xfrm>
        <a:graphic xmlns:a="http://schemas.openxmlformats.org/drawingml/2006/main">
          <a:graphicData uri="http://schemas.openxmlformats.org/drawingml/2006/table">
            <a:tbl>
              <a:tblPr firstRow="1" bandRow="0"/>
              <a:tblGrid>
                <a:gridCol w="2095500"/>
                <a:gridCol w="5486400"/>
                <a:gridCol w="3390900"/>
              </a:tblGrid>
              <a:tr h="495300">
                <a:tc>
                  <a:txBody>
                    <a:bodyPr>
                      <a:noAutofit/>
                    </a:bodyPr>
                    <a:lstStyle/>
                    <a:p>
                      <a:r>
                        <a:rPr sz="1500" b="1">
                          <a:solidFill>
                            <a:srgbClr val="FFFFFF"/>
                          </a:solidFill>
                          <a:latin typeface="Noto Sans"/>
                          <a:ea typeface="Noto Sans"/>
                          <a:cs typeface="Noto Sans"/>
                        </a:rPr>
                        <a:t>Helper</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Availability and capabilities</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Planner proposal</a:t>
                      </a:r>
                    </a:p>
                  </a:txBody>
                  <a:tcPr marL="171450" marR="171450" marT="114300" marB="95250" anchor="ctr">
                    <a:solidFill>
                      <a:srgbClr val="102943"/>
                    </a:solidFill>
                  </a:tcPr>
                </a:tc>
              </a:tr>
              <a:tr h="628650">
                <a:tc>
                  <a:txBody>
                    <a:bodyPr>
                      <a:noAutofit/>
                    </a:bodyPr>
                    <a:lstStyle/>
                    <a:p>
                      <a:r>
                        <a:rPr sz="1875" b="1">
                          <a:solidFill>
                            <a:srgbClr val="102943"/>
                          </a:solidFill>
                          <a:latin typeface="Noto Sans"/>
                          <a:ea typeface="Noto Sans"/>
                          <a:cs typeface="Noto Sans"/>
                        </a:rPr>
                        <a:t>Maya</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Unavailable all afternoon</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Reassign both tasks</a:t>
                      </a:r>
                    </a:p>
                  </a:txBody>
                  <a:tcPr marL="171450" marR="171450" marT="114300" marB="95250" anchor="ctr">
                    <a:solidFill>
                      <a:srgbClr val="FFFFFF"/>
                    </a:solidFill>
                  </a:tcPr>
                </a:tc>
              </a:tr>
              <a:tr h="762000">
                <a:tc>
                  <a:txBody>
                    <a:bodyPr>
                      <a:noAutofit/>
                    </a:bodyPr>
                    <a:lstStyle/>
                    <a:p>
                      <a:r>
                        <a:rPr sz="1875" b="1">
                          <a:solidFill>
                            <a:srgbClr val="102943"/>
                          </a:solidFill>
                          <a:latin typeface="Noto Sans"/>
                          <a:ea typeface="Noto Sans"/>
                          <a:cs typeface="Noto Sans"/>
                        </a:rPr>
                        <a:t>Jo</a:t>
                      </a:r>
                    </a:p>
                  </a:txBody>
                  <a:tcPr marL="171450" marR="171450" marT="114300" marB="95250" anchor="ctr">
                    <a:solidFill>
                      <a:srgbClr val="F6F8FB"/>
                    </a:solidFill>
                  </a:tcPr>
                </a:tc>
                <a:tc>
                  <a:txBody>
                    <a:bodyPr>
                      <a:noAutofit/>
                    </a:bodyPr>
                    <a:lstStyle/>
                    <a:p>
                      <a:r>
                        <a:rPr sz="1875" b="0">
                          <a:solidFill>
                            <a:srgbClr val="102943"/>
                          </a:solidFill>
                          <a:latin typeface="Noto Sans"/>
                          <a:ea typeface="Noto Sans"/>
                          <a:cs typeface="Noto Sans"/>
                        </a:rPr>
                        <a:t>Home access 14:00–15:00</a:t>
                      </a:r>
                    </a:p>
                    <a:p>
                      <a:r>
                        <a:rPr sz="1875" b="0">
                          <a:solidFill>
                            <a:srgbClr val="102943"/>
                          </a:solidFill>
                          <a:latin typeface="Noto Sans"/>
                          <a:ea typeface="Noto Sans"/>
                          <a:cs typeface="Noto Sans"/>
                        </a:rPr>
                        <a:t>Cannot drive</a:t>
                      </a:r>
                    </a:p>
                  </a:txBody>
                  <a:tcPr marL="171450" marR="171450" marT="114300" marB="95250" anchor="ctr">
                    <a:solidFill>
                      <a:srgbClr val="F6F8FB"/>
                    </a:solidFill>
                  </a:tcPr>
                </a:tc>
                <a:tc>
                  <a:txBody>
                    <a:bodyPr>
                      <a:noAutofit/>
                    </a:bodyPr>
                    <a:lstStyle/>
                    <a:p>
                      <a:r>
                        <a:rPr sz="1875" b="0">
                          <a:solidFill>
                            <a:srgbClr val="2260DF"/>
                          </a:solidFill>
                          <a:latin typeface="Noto Sans"/>
                          <a:ea typeface="Noto Sans"/>
                          <a:cs typeface="Noto Sans"/>
                        </a:rPr>
                        <a:t>Bag 14:30–14:45</a:t>
                      </a:r>
                    </a:p>
                  </a:txBody>
                  <a:tcPr marL="171450" marR="171450" marT="114300" marB="95250" anchor="ctr">
                    <a:solidFill>
                      <a:srgbClr val="F6F8FB"/>
                    </a:solidFill>
                  </a:tcPr>
                </a:tc>
              </a:tr>
              <a:tr h="762000">
                <a:tc>
                  <a:txBody>
                    <a:bodyPr>
                      <a:noAutofit/>
                    </a:bodyPr>
                    <a:lstStyle/>
                    <a:p>
                      <a:r>
                        <a:rPr sz="1875" b="1">
                          <a:solidFill>
                            <a:srgbClr val="102943"/>
                          </a:solidFill>
                          <a:latin typeface="Noto Sans"/>
                          <a:ea typeface="Noto Sans"/>
                          <a:cs typeface="Noto Sans"/>
                        </a:rPr>
                        <a:t>Dev</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Available from 14:45</a:t>
                      </a:r>
                    </a:p>
                    <a:p>
                      <a:r>
                        <a:rPr sz="1875" b="0">
                          <a:solidFill>
                            <a:srgbClr val="102943"/>
                          </a:solidFill>
                          <a:latin typeface="Noto Sans"/>
                          <a:ea typeface="Noto Sans"/>
                          <a:cs typeface="Noto Sans"/>
                        </a:rPr>
                        <a:t>Can drive</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Ride 15:00–16:00</a:t>
                      </a:r>
                    </a:p>
                  </a:txBody>
                  <a:tcPr marL="171450" marR="171450" marT="114300" marB="95250"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895B4CCC-7A0A-4978-906A-78D889449332}"/>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The proposed split respects time, home access, driving, and the bag prerequisite.</a:t>
            </a:r>
          </a:p>
        </p:txBody>
      </p:sp>
    </p:spTree>
    <p:extLst>
      <p:ext uri="{BB962C8B-B14F-4D97-AF65-F5344CB8AC3E}">
        <p14:creationId xmlns:p14="http://schemas.microsoft.com/office/powerpoint/2010/main" val="1369356434"/>
      </p:ext>
    </p:extLst>
  </p:cSld>
</p:sld>
</file>

<file path=ppt/slides/slide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C0587760-D2EC-419F-A34B-96E2A0DA62EF}"/>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D225EAF7-DC71-4454-8B53-2CE34AEA74E6}"/>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03</a:t>
            </a:r>
          </a:p>
        </p:txBody>
      </p:sp>
      <p:sp>
        <p:nvSpPr>
          <p:cNvPr id="3" name="title">
            <a:extLst xmlns:a="http://schemas.openxmlformats.org/drawingml/2006/main">
              <a:ext uri="{FF2B5EF4-FFF2-40B4-BE49-F238E27FC236}">
                <a16:creationId xmlns:a16="http://schemas.microsoft.com/office/drawing/2014/main" id="{7746955A-4AF5-4A66-A7AF-9A398BE46CCA}"/>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Commitment states</a:t>
            </a:r>
          </a:p>
        </p:txBody>
      </p:sp>
      <p:sp>
        <p:nvSpPr>
          <p:cNvPr id="4" name="subtitle">
            <a:extLst xmlns:a="http://schemas.openxmlformats.org/drawingml/2006/main">
              <a:ext uri="{FF2B5EF4-FFF2-40B4-BE49-F238E27FC236}">
                <a16:creationId xmlns:a16="http://schemas.microsoft.com/office/drawing/2014/main" id="{A0C43014-2BD8-4774-AFD1-0AA877B4CC12}"/>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named helper accepts the offer. The prerequisite controls when work can start.</a:t>
            </a:r>
          </a:p>
        </p:txBody>
      </p:sp>
      <p:sp>
        <p:nvSpPr>
          <p:cNvPr id="5" name="state-0">
            <a:extLst xmlns:a="http://schemas.openxmlformats.org/drawingml/2006/main">
              <a:ext uri="{FF2B5EF4-FFF2-40B4-BE49-F238E27FC236}">
                <a16:creationId xmlns:a16="http://schemas.microsoft.com/office/drawing/2014/main" id="{D82DB04B-161D-47D8-8546-D4225F11C85A}"/>
              </a:ext>
            </a:extLst>
          </p:cNvPr>
          <p:cNvSpPr>
            <a:spLocks xmlns:a="http://schemas.openxmlformats.org/drawingml/2006/main" noGrp="1"/>
          </p:cNvSpPr>
          <p:nvPr/>
        </p:nvSpPr>
        <p:spPr>
          <a:xfrm xmlns:a="http://schemas.openxmlformats.org/drawingml/2006/main">
            <a:off x="60960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6" name="step-0">
            <a:extLst xmlns:a="http://schemas.openxmlformats.org/drawingml/2006/main">
              <a:ext uri="{FF2B5EF4-FFF2-40B4-BE49-F238E27FC236}">
                <a16:creationId xmlns:a16="http://schemas.microsoft.com/office/drawing/2014/main" id="{36101927-5E3A-43F8-AC55-178DFE1F59BA}"/>
              </a:ext>
            </a:extLst>
          </p:cNvPr>
          <p:cNvSpPr>
            <a:spLocks xmlns:a="http://schemas.openxmlformats.org/drawingml/2006/main" noGrp="1"/>
          </p:cNvSpPr>
          <p:nvPr/>
        </p:nvSpPr>
        <p:spPr>
          <a:xfrm xmlns:a="http://schemas.openxmlformats.org/drawingml/2006/main">
            <a:off x="60960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01</a:t>
            </a:r>
          </a:p>
        </p:txBody>
      </p:sp>
      <p:sp>
        <p:nvSpPr>
          <p:cNvPr id="7" name="state-name-0">
            <a:extLst xmlns:a="http://schemas.openxmlformats.org/drawingml/2006/main">
              <a:ext uri="{FF2B5EF4-FFF2-40B4-BE49-F238E27FC236}">
                <a16:creationId xmlns:a16="http://schemas.microsoft.com/office/drawing/2014/main" id="{32DC219E-D4E4-40BA-898A-EFA12AA8AB83}"/>
              </a:ext>
            </a:extLst>
          </p:cNvPr>
          <p:cNvSpPr>
            <a:spLocks xmlns:a="http://schemas.openxmlformats.org/drawingml/2006/main" noGrp="1"/>
          </p:cNvSpPr>
          <p:nvPr/>
        </p:nvSpPr>
        <p:spPr>
          <a:xfrm xmlns:a="http://schemas.openxmlformats.org/drawingml/2006/main">
            <a:off x="74295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Proposed</a:t>
            </a:r>
          </a:p>
        </p:txBody>
      </p:sp>
      <p:sp>
        <p:nvSpPr>
          <p:cNvPr id="8" name="state-detail-0">
            <a:extLst xmlns:a="http://schemas.openxmlformats.org/drawingml/2006/main">
              <a:ext uri="{FF2B5EF4-FFF2-40B4-BE49-F238E27FC236}">
                <a16:creationId xmlns:a16="http://schemas.microsoft.com/office/drawing/2014/main" id="{7D77F8EF-19FD-46C4-A4AA-26FE994300B3}"/>
              </a:ext>
            </a:extLst>
          </p:cNvPr>
          <p:cNvSpPr>
            <a:spLocks xmlns:a="http://schemas.openxmlformats.org/drawingml/2006/main" noGrp="1"/>
          </p:cNvSpPr>
          <p:nvPr/>
        </p:nvSpPr>
        <p:spPr>
          <a:xfrm xmlns:a="http://schemas.openxmlformats.org/drawingml/2006/main">
            <a:off x="60960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 feasible replacement</a:t>
            </a:r>
          </a:p>
        </p:txBody>
      </p:sp>
      <p:sp>
        <p:nvSpPr>
          <p:cNvPr id="9" name="state-1">
            <a:extLst xmlns:a="http://schemas.openxmlformats.org/drawingml/2006/main">
              <a:ext uri="{FF2B5EF4-FFF2-40B4-BE49-F238E27FC236}">
                <a16:creationId xmlns:a16="http://schemas.microsoft.com/office/drawing/2014/main" id="{9B31EA7A-497B-4E76-9FD0-A849688B7DA2}"/>
              </a:ext>
            </a:extLst>
          </p:cNvPr>
          <p:cNvSpPr>
            <a:spLocks xmlns:a="http://schemas.openxmlformats.org/drawingml/2006/main" noGrp="1"/>
          </p:cNvSpPr>
          <p:nvPr/>
        </p:nvSpPr>
        <p:spPr>
          <a:xfrm xmlns:a="http://schemas.openxmlformats.org/drawingml/2006/main">
            <a:off x="3514725"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0" name="step-1">
            <a:extLst xmlns:a="http://schemas.openxmlformats.org/drawingml/2006/main">
              <a:ext uri="{FF2B5EF4-FFF2-40B4-BE49-F238E27FC236}">
                <a16:creationId xmlns:a16="http://schemas.microsoft.com/office/drawing/2014/main" id="{8D58AD3C-7E3D-4F51-B794-0A5B06AD953D}"/>
              </a:ext>
            </a:extLst>
          </p:cNvPr>
          <p:cNvSpPr>
            <a:spLocks xmlns:a="http://schemas.openxmlformats.org/drawingml/2006/main" noGrp="1"/>
          </p:cNvSpPr>
          <p:nvPr/>
        </p:nvSpPr>
        <p:spPr>
          <a:xfrm xmlns:a="http://schemas.openxmlformats.org/drawingml/2006/main">
            <a:off x="351472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02</a:t>
            </a:r>
          </a:p>
        </p:txBody>
      </p:sp>
      <p:sp>
        <p:nvSpPr>
          <p:cNvPr id="11" name="state-name-1">
            <a:extLst xmlns:a="http://schemas.openxmlformats.org/drawingml/2006/main">
              <a:ext uri="{FF2B5EF4-FFF2-40B4-BE49-F238E27FC236}">
                <a16:creationId xmlns:a16="http://schemas.microsoft.com/office/drawing/2014/main" id="{1E66DEC8-F847-478C-BCD2-FEB08449C893}"/>
              </a:ext>
            </a:extLst>
          </p:cNvPr>
          <p:cNvSpPr>
            <a:spLocks xmlns:a="http://schemas.openxmlformats.org/drawingml/2006/main" noGrp="1"/>
          </p:cNvSpPr>
          <p:nvPr/>
        </p:nvSpPr>
        <p:spPr>
          <a:xfrm xmlns:a="http://schemas.openxmlformats.org/drawingml/2006/main">
            <a:off x="364807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Offered</a:t>
            </a:r>
          </a:p>
        </p:txBody>
      </p:sp>
      <p:sp>
        <p:nvSpPr>
          <p:cNvPr id="12" name="state-detail-1">
            <a:extLst xmlns:a="http://schemas.openxmlformats.org/drawingml/2006/main">
              <a:ext uri="{FF2B5EF4-FFF2-40B4-BE49-F238E27FC236}">
                <a16:creationId xmlns:a16="http://schemas.microsoft.com/office/drawing/2014/main" id="{B9A45FF2-42E5-4455-9974-DC178CEC1968}"/>
              </a:ext>
            </a:extLst>
          </p:cNvPr>
          <p:cNvSpPr>
            <a:spLocks xmlns:a="http://schemas.openxmlformats.org/drawingml/2006/main" noGrp="1"/>
          </p:cNvSpPr>
          <p:nvPr/>
        </p:nvSpPr>
        <p:spPr>
          <a:xfrm xmlns:a="http://schemas.openxmlformats.org/drawingml/2006/main">
            <a:off x="351472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Waiting for Dev</a:t>
            </a:r>
          </a:p>
        </p:txBody>
      </p:sp>
      <p:sp>
        <p:nvSpPr>
          <p:cNvPr id="13" name="state-2">
            <a:extLst xmlns:a="http://schemas.openxmlformats.org/drawingml/2006/main">
              <a:ext uri="{FF2B5EF4-FFF2-40B4-BE49-F238E27FC236}">
                <a16:creationId xmlns:a16="http://schemas.microsoft.com/office/drawing/2014/main" id="{144619CD-1E42-4E9A-A6F2-903FBA944D49}"/>
              </a:ext>
            </a:extLst>
          </p:cNvPr>
          <p:cNvSpPr>
            <a:spLocks xmlns:a="http://schemas.openxmlformats.org/drawingml/2006/main" noGrp="1"/>
          </p:cNvSpPr>
          <p:nvPr/>
        </p:nvSpPr>
        <p:spPr>
          <a:xfrm xmlns:a="http://schemas.openxmlformats.org/drawingml/2006/main">
            <a:off x="641985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4" name="step-2">
            <a:extLst xmlns:a="http://schemas.openxmlformats.org/drawingml/2006/main">
              <a:ext uri="{FF2B5EF4-FFF2-40B4-BE49-F238E27FC236}">
                <a16:creationId xmlns:a16="http://schemas.microsoft.com/office/drawing/2014/main" id="{AF681C41-854D-4E00-8CB9-4E2D8620380D}"/>
              </a:ext>
            </a:extLst>
          </p:cNvPr>
          <p:cNvSpPr>
            <a:spLocks xmlns:a="http://schemas.openxmlformats.org/drawingml/2006/main" noGrp="1"/>
          </p:cNvSpPr>
          <p:nvPr/>
        </p:nvSpPr>
        <p:spPr>
          <a:xfrm xmlns:a="http://schemas.openxmlformats.org/drawingml/2006/main">
            <a:off x="641985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03</a:t>
            </a:r>
          </a:p>
        </p:txBody>
      </p:sp>
      <p:sp>
        <p:nvSpPr>
          <p:cNvPr id="15" name="state-name-2">
            <a:extLst xmlns:a="http://schemas.openxmlformats.org/drawingml/2006/main">
              <a:ext uri="{FF2B5EF4-FFF2-40B4-BE49-F238E27FC236}">
                <a16:creationId xmlns:a16="http://schemas.microsoft.com/office/drawing/2014/main" id="{9F87F2FE-8819-4544-B0B1-90F394B0AE53}"/>
              </a:ext>
            </a:extLst>
          </p:cNvPr>
          <p:cNvSpPr>
            <a:spLocks xmlns:a="http://schemas.openxmlformats.org/drawingml/2006/main" noGrp="1"/>
          </p:cNvSpPr>
          <p:nvPr/>
        </p:nvSpPr>
        <p:spPr>
          <a:xfrm xmlns:a="http://schemas.openxmlformats.org/drawingml/2006/main">
            <a:off x="655320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Accepted</a:t>
            </a:r>
          </a:p>
        </p:txBody>
      </p:sp>
      <p:sp>
        <p:nvSpPr>
          <p:cNvPr id="16" name="state-detail-2">
            <a:extLst xmlns:a="http://schemas.openxmlformats.org/drawingml/2006/main">
              <a:ext uri="{FF2B5EF4-FFF2-40B4-BE49-F238E27FC236}">
                <a16:creationId xmlns:a16="http://schemas.microsoft.com/office/drawing/2014/main" id="{E341D27D-83BD-4116-B294-88963AA1E485}"/>
              </a:ext>
            </a:extLst>
          </p:cNvPr>
          <p:cNvSpPr>
            <a:spLocks xmlns:a="http://schemas.openxmlformats.org/drawingml/2006/main" noGrp="1"/>
          </p:cNvSpPr>
          <p:nvPr/>
        </p:nvSpPr>
        <p:spPr>
          <a:xfrm xmlns:a="http://schemas.openxmlformats.org/drawingml/2006/main">
            <a:off x="641985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Dev takes responsibility</a:t>
            </a:r>
          </a:p>
        </p:txBody>
      </p:sp>
      <p:sp>
        <p:nvSpPr>
          <p:cNvPr id="17" name="state-3">
            <a:extLst xmlns:a="http://schemas.openxmlformats.org/drawingml/2006/main">
              <a:ext uri="{FF2B5EF4-FFF2-40B4-BE49-F238E27FC236}">
                <a16:creationId xmlns:a16="http://schemas.microsoft.com/office/drawing/2014/main" id="{321D1B2B-2FC7-4B1D-8205-0BC1B4646D32}"/>
              </a:ext>
            </a:extLst>
          </p:cNvPr>
          <p:cNvSpPr>
            <a:spLocks xmlns:a="http://schemas.openxmlformats.org/drawingml/2006/main" noGrp="1"/>
          </p:cNvSpPr>
          <p:nvPr/>
        </p:nvSpPr>
        <p:spPr>
          <a:xfrm xmlns:a="http://schemas.openxmlformats.org/drawingml/2006/main">
            <a:off x="9324975" y="3438525"/>
            <a:ext cx="2238375"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2260DF"/>
            </a:solidFill>
            <a:prstDash val="solid"/>
          </a:ln>
        </p:spPr>
      </p:sp>
      <p:sp>
        <p:nvSpPr>
          <p:cNvPr id="18" name="step-3">
            <a:extLst xmlns:a="http://schemas.openxmlformats.org/drawingml/2006/main">
              <a:ext uri="{FF2B5EF4-FFF2-40B4-BE49-F238E27FC236}">
                <a16:creationId xmlns:a16="http://schemas.microsoft.com/office/drawing/2014/main" id="{063CFE25-2B79-4477-AEBD-736925156754}"/>
              </a:ext>
            </a:extLst>
          </p:cNvPr>
          <p:cNvSpPr>
            <a:spLocks xmlns:a="http://schemas.openxmlformats.org/drawingml/2006/main" noGrp="1"/>
          </p:cNvSpPr>
          <p:nvPr/>
        </p:nvSpPr>
        <p:spPr>
          <a:xfrm xmlns:a="http://schemas.openxmlformats.org/drawingml/2006/main">
            <a:off x="932497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04</a:t>
            </a:r>
          </a:p>
        </p:txBody>
      </p:sp>
      <p:sp>
        <p:nvSpPr>
          <p:cNvPr id="19" name="state-name-3">
            <a:extLst xmlns:a="http://schemas.openxmlformats.org/drawingml/2006/main">
              <a:ext uri="{FF2B5EF4-FFF2-40B4-BE49-F238E27FC236}">
                <a16:creationId xmlns:a16="http://schemas.microsoft.com/office/drawing/2014/main" id="{C00EDB98-DA38-49A5-A59C-DC77802679EB}"/>
              </a:ext>
            </a:extLst>
          </p:cNvPr>
          <p:cNvSpPr>
            <a:spLocks xmlns:a="http://schemas.openxmlformats.org/drawingml/2006/main" noGrp="1"/>
          </p:cNvSpPr>
          <p:nvPr/>
        </p:nvSpPr>
        <p:spPr>
          <a:xfrm xmlns:a="http://schemas.openxmlformats.org/drawingml/2006/main">
            <a:off x="945832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260DF"/>
                </a:solidFill>
                <a:latin typeface="Noto Sans"/>
                <a:ea typeface="Noto Sans"/>
                <a:cs typeface="Noto Sans"/>
              </a:defRPr>
            </a:pPr>
            <a:r>
              <a:rPr sz="2325" b="1">
                <a:solidFill>
                  <a:srgbClr val="2260DF"/>
                </a:solidFill>
                <a:latin typeface="Noto Sans"/>
                <a:ea typeface="Noto Sans"/>
                <a:cs typeface="Noto Sans"/>
              </a:rPr>
              <a:t>Ready</a:t>
            </a:r>
          </a:p>
        </p:txBody>
      </p:sp>
      <p:sp>
        <p:nvSpPr>
          <p:cNvPr id="20" name="state-detail-3">
            <a:extLst xmlns:a="http://schemas.openxmlformats.org/drawingml/2006/main">
              <a:ext uri="{FF2B5EF4-FFF2-40B4-BE49-F238E27FC236}">
                <a16:creationId xmlns:a16="http://schemas.microsoft.com/office/drawing/2014/main" id="{0FFD0340-5D55-48C5-B983-268DDC346DFF}"/>
              </a:ext>
            </a:extLst>
          </p:cNvPr>
          <p:cNvSpPr>
            <a:spLocks xmlns:a="http://schemas.openxmlformats.org/drawingml/2006/main" noGrp="1"/>
          </p:cNvSpPr>
          <p:nvPr/>
        </p:nvSpPr>
        <p:spPr>
          <a:xfrm xmlns:a="http://schemas.openxmlformats.org/drawingml/2006/main">
            <a:off x="932497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After Jo packs the bag</a:t>
            </a:r>
          </a:p>
        </p:txBody>
      </p:sp>
      <p:cxnSp>
        <p:nvCxnSpPr>
          <p:cNvPr id="46" name="state-link-0"/>
          <p:cNvCxnSpPr>
            <a:stCxn xmlns:a="http://schemas.openxmlformats.org/drawingml/2006/main" id="5" idx="3"/>
            <a:endCxn xmlns:a="http://schemas.openxmlformats.org/drawingml/2006/main" id="9" idx="1"/>
          </p:cNvCxnSpPr>
          <p:nvPr/>
        </p:nvCxnSpPr>
        <p:spPr>
          <a:xfrm xmlns:a="http://schemas.openxmlformats.org/drawingml/2006/main">
            <a:off x="284797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state-link-1"/>
          <p:cNvCxnSpPr>
            <a:stCxn xmlns:a="http://schemas.openxmlformats.org/drawingml/2006/main" id="9" idx="3"/>
            <a:endCxn xmlns:a="http://schemas.openxmlformats.org/drawingml/2006/main" id="13" idx="1"/>
          </p:cNvCxnSpPr>
          <p:nvPr/>
        </p:nvCxnSpPr>
        <p:spPr>
          <a:xfrm xmlns:a="http://schemas.openxmlformats.org/drawingml/2006/main">
            <a:off x="5753100"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state-link-2"/>
          <p:cNvCxnSpPr>
            <a:stCxn xmlns:a="http://schemas.openxmlformats.org/drawingml/2006/main" id="13" idx="3"/>
            <a:endCxn xmlns:a="http://schemas.openxmlformats.org/drawingml/2006/main" id="17" idx="1"/>
          </p:cNvCxnSpPr>
          <p:nvPr/>
        </p:nvCxnSpPr>
        <p:spPr>
          <a:xfrm xmlns:a="http://schemas.openxmlformats.org/drawingml/2006/main">
            <a:off x="865822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waiting-note">
            <a:extLst xmlns:a="http://schemas.openxmlformats.org/drawingml/2006/main">
              <a:ext uri="{FF2B5EF4-FFF2-40B4-BE49-F238E27FC236}">
                <a16:creationId xmlns:a16="http://schemas.microsoft.com/office/drawing/2014/main" id="{BA8B472F-62FC-4083-8D7D-2A596D41F6FC}"/>
              </a:ext>
            </a:extLst>
          </p:cNvPr>
          <p:cNvSpPr>
            <a:spLocks xmlns:a="http://schemas.openxmlformats.org/drawingml/2006/main" noGrp="1"/>
          </p:cNvSpPr>
          <p:nvPr/>
        </p:nvSpPr>
        <p:spPr>
          <a:xfrm xmlns:a="http://schemas.openxmlformats.org/drawingml/2006/main">
            <a:off x="6105525" y="56959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725" b="1">
                <a:solidFill>
                  <a:srgbClr val="2260DF"/>
                </a:solidFill>
                <a:latin typeface="Noto Sans"/>
                <a:ea typeface="Noto Sans"/>
                <a:cs typeface="Noto Sans"/>
              </a:defRPr>
            </a:pPr>
            <a:r>
              <a:rPr sz="1725" b="1">
                <a:solidFill>
                  <a:srgbClr val="2260DF"/>
                </a:solidFill>
                <a:latin typeface="Noto Sans"/>
                <a:ea typeface="Noto Sans"/>
                <a:cs typeface="Noto Sans"/>
              </a:rPr>
              <a:t>Accepted ride waits for the bag</a:t>
            </a:r>
          </a:p>
        </p:txBody>
      </p:sp>
      <p:sp>
        <p:nvSpPr>
          <p:cNvPr id="25" name="footer">
            <a:extLst xmlns:a="http://schemas.openxmlformats.org/drawingml/2006/main">
              <a:ext uri="{FF2B5EF4-FFF2-40B4-BE49-F238E27FC236}">
                <a16:creationId xmlns:a16="http://schemas.microsoft.com/office/drawing/2014/main" id="{0C1A7D49-2098-4E45-AA6B-FE27D18AFE45}"/>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 brief acknowledgment records the plan version the helper read.</a:t>
            </a:r>
          </a:p>
        </p:txBody>
      </p:sp>
    </p:spTree>
    <p:extLst>
      <p:ext uri="{BB962C8B-B14F-4D97-AF65-F5344CB8AC3E}">
        <p14:creationId xmlns:p14="http://schemas.microsoft.com/office/powerpoint/2010/main" val="732722551"/>
      </p:ext>
    </p:extLst>
  </p:cSld>
</p:sld>
</file>

<file path=ppt/slides/slide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73C00F40-148A-47A2-AEB8-76FB3465E58C}"/>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9DCE9F24-851D-47B3-A170-CEE59F5E15EF}"/>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04</a:t>
            </a:r>
          </a:p>
        </p:txBody>
      </p:sp>
      <p:sp>
        <p:nvSpPr>
          <p:cNvPr id="3" name="title">
            <a:extLst xmlns:a="http://schemas.openxmlformats.org/drawingml/2006/main">
              <a:ext uri="{FF2B5EF4-FFF2-40B4-BE49-F238E27FC236}">
                <a16:creationId xmlns:a16="http://schemas.microsoft.com/office/drawing/2014/main" id="{16AC43EE-F831-4DC7-A9B6-FA73AF2F5788}"/>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Shared rules behind the workflow</a:t>
            </a:r>
          </a:p>
        </p:txBody>
      </p:sp>
      <p:sp>
        <p:nvSpPr>
          <p:cNvPr id="4" name="subtitle">
            <a:extLst xmlns:a="http://schemas.openxmlformats.org/drawingml/2006/main">
              <a:ext uri="{FF2B5EF4-FFF2-40B4-BE49-F238E27FC236}">
                <a16:creationId xmlns:a16="http://schemas.microsoft.com/office/drawing/2014/main" id="{C703DA2F-7136-499D-AD3A-75CA605EED4F}"/>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Local simulator and MCP clients use the same validated workflow.</a:t>
            </a:r>
          </a:p>
        </p:txBody>
      </p:sp>
      <p:sp>
        <p:nvSpPr>
          <p:cNvPr id="5" name="architecture-title-0">
            <a:extLst xmlns:a="http://schemas.openxmlformats.org/drawingml/2006/main">
              <a:ext uri="{FF2B5EF4-FFF2-40B4-BE49-F238E27FC236}">
                <a16:creationId xmlns:a16="http://schemas.microsoft.com/office/drawing/2014/main" id="{497EBB35-DE9F-41A1-A259-19F570B27904}"/>
              </a:ext>
            </a:extLst>
          </p:cNvPr>
          <p:cNvSpPr>
            <a:spLocks xmlns:a="http://schemas.openxmlformats.org/drawingml/2006/main" noGrp="1"/>
          </p:cNvSpPr>
          <p:nvPr/>
        </p:nvSpPr>
        <p:spPr>
          <a:xfrm xmlns:a="http://schemas.openxmlformats.org/drawingml/2006/main">
            <a:off x="60960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Client</a:t>
            </a:r>
          </a:p>
        </p:txBody>
      </p:sp>
      <p:sp>
        <p:nvSpPr>
          <p:cNvPr id="6" name="architecture-node-0">
            <a:extLst xmlns:a="http://schemas.openxmlformats.org/drawingml/2006/main">
              <a:ext uri="{FF2B5EF4-FFF2-40B4-BE49-F238E27FC236}">
                <a16:creationId xmlns:a16="http://schemas.microsoft.com/office/drawing/2014/main" id="{7C936E59-289F-456C-AF1E-912B806A0F06}"/>
              </a:ext>
            </a:extLst>
          </p:cNvPr>
          <p:cNvSpPr>
            <a:spLocks xmlns:a="http://schemas.openxmlformats.org/drawingml/2006/main" noGrp="1"/>
          </p:cNvSpPr>
          <p:nvPr/>
        </p:nvSpPr>
        <p:spPr>
          <a:xfrm xmlns:a="http://schemas.openxmlformats.org/drawingml/2006/main">
            <a:off x="60960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7" name="architecture-a-0">
            <a:extLst xmlns:a="http://schemas.openxmlformats.org/drawingml/2006/main">
              <a:ext uri="{FF2B5EF4-FFF2-40B4-BE49-F238E27FC236}">
                <a16:creationId xmlns:a16="http://schemas.microsoft.com/office/drawing/2014/main" id="{CC925EA2-460C-42DE-A09A-D2955AD717A2}"/>
              </a:ext>
            </a:extLst>
          </p:cNvPr>
          <p:cNvSpPr>
            <a:spLocks xmlns:a="http://schemas.openxmlformats.org/drawingml/2006/main" noGrp="1"/>
          </p:cNvSpPr>
          <p:nvPr/>
        </p:nvSpPr>
        <p:spPr>
          <a:xfrm xmlns:a="http://schemas.openxmlformats.org/drawingml/2006/main">
            <a:off x="77152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Web simulator</a:t>
            </a:r>
          </a:p>
        </p:txBody>
      </p:sp>
      <p:sp>
        <p:nvSpPr>
          <p:cNvPr id="8" name="architecture-b-0">
            <a:extLst xmlns:a="http://schemas.openxmlformats.org/drawingml/2006/main">
              <a:ext uri="{FF2B5EF4-FFF2-40B4-BE49-F238E27FC236}">
                <a16:creationId xmlns:a16="http://schemas.microsoft.com/office/drawing/2014/main" id="{F26FC86A-4288-46A2-9D8C-FCCEDAC17674}"/>
              </a:ext>
            </a:extLst>
          </p:cNvPr>
          <p:cNvSpPr>
            <a:spLocks xmlns:a="http://schemas.openxmlformats.org/drawingml/2006/main" noGrp="1"/>
          </p:cNvSpPr>
          <p:nvPr/>
        </p:nvSpPr>
        <p:spPr>
          <a:xfrm xmlns:a="http://schemas.openxmlformats.org/drawingml/2006/main">
            <a:off x="77152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External MCP client</a:t>
            </a:r>
          </a:p>
        </p:txBody>
      </p:sp>
      <p:sp>
        <p:nvSpPr>
          <p:cNvPr id="9" name="architecture-title-1">
            <a:extLst xmlns:a="http://schemas.openxmlformats.org/drawingml/2006/main">
              <a:ext uri="{FF2B5EF4-FFF2-40B4-BE49-F238E27FC236}">
                <a16:creationId xmlns:a16="http://schemas.microsoft.com/office/drawing/2014/main" id="{FCCD8A12-30A9-441D-BC6D-A74A3D349554}"/>
              </a:ext>
            </a:extLst>
          </p:cNvPr>
          <p:cNvSpPr>
            <a:spLocks xmlns:a="http://schemas.openxmlformats.org/drawingml/2006/main" noGrp="1"/>
          </p:cNvSpPr>
          <p:nvPr/>
        </p:nvSpPr>
        <p:spPr>
          <a:xfrm xmlns:a="http://schemas.openxmlformats.org/drawingml/2006/main">
            <a:off x="3438525"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MCP server</a:t>
            </a:r>
          </a:p>
        </p:txBody>
      </p:sp>
      <p:sp>
        <p:nvSpPr>
          <p:cNvPr id="10" name="architecture-node-1">
            <a:extLst xmlns:a="http://schemas.openxmlformats.org/drawingml/2006/main">
              <a:ext uri="{FF2B5EF4-FFF2-40B4-BE49-F238E27FC236}">
                <a16:creationId xmlns:a16="http://schemas.microsoft.com/office/drawing/2014/main" id="{0556E09D-4781-4479-9343-EE075206F2DD}"/>
              </a:ext>
            </a:extLst>
          </p:cNvPr>
          <p:cNvSpPr>
            <a:spLocks xmlns:a="http://schemas.openxmlformats.org/drawingml/2006/main" noGrp="1"/>
          </p:cNvSpPr>
          <p:nvPr/>
        </p:nvSpPr>
        <p:spPr>
          <a:xfrm xmlns:a="http://schemas.openxmlformats.org/drawingml/2006/main">
            <a:off x="3438525"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1" name="architecture-a-1">
            <a:extLst xmlns:a="http://schemas.openxmlformats.org/drawingml/2006/main">
              <a:ext uri="{FF2B5EF4-FFF2-40B4-BE49-F238E27FC236}">
                <a16:creationId xmlns:a16="http://schemas.microsoft.com/office/drawing/2014/main" id="{7A3C4DE1-A949-4638-BDE6-37ED41E6DD1D}"/>
              </a:ext>
            </a:extLst>
          </p:cNvPr>
          <p:cNvSpPr>
            <a:spLocks xmlns:a="http://schemas.openxmlformats.org/drawingml/2006/main" noGrp="1"/>
          </p:cNvSpPr>
          <p:nvPr/>
        </p:nvSpPr>
        <p:spPr>
          <a:xfrm xmlns:a="http://schemas.openxmlformats.org/drawingml/2006/main">
            <a:off x="3600450"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SDK 1.30.0</a:t>
            </a:r>
          </a:p>
        </p:txBody>
      </p:sp>
      <p:sp>
        <p:nvSpPr>
          <p:cNvPr id="12" name="architecture-b-1">
            <a:extLst xmlns:a="http://schemas.openxmlformats.org/drawingml/2006/main">
              <a:ext uri="{FF2B5EF4-FFF2-40B4-BE49-F238E27FC236}">
                <a16:creationId xmlns:a16="http://schemas.microsoft.com/office/drawing/2014/main" id="{C8061D1C-9926-4261-878F-B730D269E9CF}"/>
              </a:ext>
            </a:extLst>
          </p:cNvPr>
          <p:cNvSpPr>
            <a:spLocks xmlns:a="http://schemas.openxmlformats.org/drawingml/2006/main" noGrp="1"/>
          </p:cNvSpPr>
          <p:nvPr/>
        </p:nvSpPr>
        <p:spPr>
          <a:xfrm xmlns:a="http://schemas.openxmlformats.org/drawingml/2006/main">
            <a:off x="3600450"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Streamable HTTP</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Spec 2025-11-25</a:t>
            </a:r>
          </a:p>
        </p:txBody>
      </p:sp>
      <p:sp>
        <p:nvSpPr>
          <p:cNvPr id="13" name="architecture-title-2">
            <a:extLst xmlns:a="http://schemas.openxmlformats.org/drawingml/2006/main">
              <a:ext uri="{FF2B5EF4-FFF2-40B4-BE49-F238E27FC236}">
                <a16:creationId xmlns:a16="http://schemas.microsoft.com/office/drawing/2014/main" id="{1F66A5CF-7BC5-450F-A534-E720C911FAB6}"/>
              </a:ext>
            </a:extLst>
          </p:cNvPr>
          <p:cNvSpPr>
            <a:spLocks xmlns:a="http://schemas.openxmlformats.org/drawingml/2006/main" noGrp="1"/>
          </p:cNvSpPr>
          <p:nvPr/>
        </p:nvSpPr>
        <p:spPr>
          <a:xfrm xmlns:a="http://schemas.openxmlformats.org/drawingml/2006/main">
            <a:off x="626745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Validated tools</a:t>
            </a:r>
          </a:p>
        </p:txBody>
      </p:sp>
      <p:sp>
        <p:nvSpPr>
          <p:cNvPr id="14" name="architecture-node-2">
            <a:extLst xmlns:a="http://schemas.openxmlformats.org/drawingml/2006/main">
              <a:ext uri="{FF2B5EF4-FFF2-40B4-BE49-F238E27FC236}">
                <a16:creationId xmlns:a16="http://schemas.microsoft.com/office/drawing/2014/main" id="{27905FE6-0340-4DD8-A200-B55C7FEF8E6D}"/>
              </a:ext>
            </a:extLst>
          </p:cNvPr>
          <p:cNvSpPr>
            <a:spLocks xmlns:a="http://schemas.openxmlformats.org/drawingml/2006/main" noGrp="1"/>
          </p:cNvSpPr>
          <p:nvPr/>
        </p:nvSpPr>
        <p:spPr>
          <a:xfrm xmlns:a="http://schemas.openxmlformats.org/drawingml/2006/main">
            <a:off x="626745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5" name="architecture-a-2">
            <a:extLst xmlns:a="http://schemas.openxmlformats.org/drawingml/2006/main">
              <a:ext uri="{FF2B5EF4-FFF2-40B4-BE49-F238E27FC236}">
                <a16:creationId xmlns:a16="http://schemas.microsoft.com/office/drawing/2014/main" id="{E3B3342C-2032-494E-86C1-34D23E7B00F8}"/>
              </a:ext>
            </a:extLst>
          </p:cNvPr>
          <p:cNvSpPr>
            <a:spLocks xmlns:a="http://schemas.openxmlformats.org/drawingml/2006/main" noGrp="1"/>
          </p:cNvSpPr>
          <p:nvPr/>
        </p:nvSpPr>
        <p:spPr>
          <a:xfrm xmlns:a="http://schemas.openxmlformats.org/drawingml/2006/main">
            <a:off x="642937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Identity + input checks</a:t>
            </a:r>
          </a:p>
        </p:txBody>
      </p:sp>
      <p:sp>
        <p:nvSpPr>
          <p:cNvPr id="16" name="architecture-b-2">
            <a:extLst xmlns:a="http://schemas.openxmlformats.org/drawingml/2006/main">
              <a:ext uri="{FF2B5EF4-FFF2-40B4-BE49-F238E27FC236}">
                <a16:creationId xmlns:a16="http://schemas.microsoft.com/office/drawing/2014/main" id="{0275D26B-ED59-4067-92C7-6A6E7A308870}"/>
              </a:ext>
            </a:extLst>
          </p:cNvPr>
          <p:cNvSpPr>
            <a:spLocks xmlns:a="http://schemas.openxmlformats.org/drawingml/2006/main" noGrp="1"/>
          </p:cNvSpPr>
          <p:nvPr/>
        </p:nvSpPr>
        <p:spPr>
          <a:xfrm xmlns:a="http://schemas.openxmlformats.org/drawingml/2006/main">
            <a:off x="642937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Planner + handoff guard</a:t>
            </a:r>
          </a:p>
        </p:txBody>
      </p:sp>
      <p:sp>
        <p:nvSpPr>
          <p:cNvPr id="17" name="architecture-title-3">
            <a:extLst xmlns:a="http://schemas.openxmlformats.org/drawingml/2006/main">
              <a:ext uri="{FF2B5EF4-FFF2-40B4-BE49-F238E27FC236}">
                <a16:creationId xmlns:a16="http://schemas.microsoft.com/office/drawing/2014/main" id="{7D30365A-EC4A-4742-B20A-C487FF2A93CC}"/>
              </a:ext>
            </a:extLst>
          </p:cNvPr>
          <p:cNvSpPr>
            <a:spLocks xmlns:a="http://schemas.openxmlformats.org/drawingml/2006/main" noGrp="1"/>
          </p:cNvSpPr>
          <p:nvPr/>
        </p:nvSpPr>
        <p:spPr>
          <a:xfrm xmlns:a="http://schemas.openxmlformats.org/drawingml/2006/main">
            <a:off x="9096375" y="2933700"/>
            <a:ext cx="2486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D1 storage</a:t>
            </a:r>
          </a:p>
        </p:txBody>
      </p:sp>
      <p:sp>
        <p:nvSpPr>
          <p:cNvPr id="18" name="architecture-node-3">
            <a:extLst xmlns:a="http://schemas.openxmlformats.org/drawingml/2006/main">
              <a:ext uri="{FF2B5EF4-FFF2-40B4-BE49-F238E27FC236}">
                <a16:creationId xmlns:a16="http://schemas.microsoft.com/office/drawing/2014/main" id="{89F88882-D3E9-4BAF-9745-028365E89FD3}"/>
              </a:ext>
            </a:extLst>
          </p:cNvPr>
          <p:cNvSpPr>
            <a:spLocks xmlns:a="http://schemas.openxmlformats.org/drawingml/2006/main" noGrp="1"/>
          </p:cNvSpPr>
          <p:nvPr/>
        </p:nvSpPr>
        <p:spPr>
          <a:xfrm xmlns:a="http://schemas.openxmlformats.org/drawingml/2006/main">
            <a:off x="9096375" y="3381375"/>
            <a:ext cx="248602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9" name="architecture-a-3">
            <a:extLst xmlns:a="http://schemas.openxmlformats.org/drawingml/2006/main">
              <a:ext uri="{FF2B5EF4-FFF2-40B4-BE49-F238E27FC236}">
                <a16:creationId xmlns:a16="http://schemas.microsoft.com/office/drawing/2014/main" id="{C10CDDF1-B100-4560-8989-937A533B43FF}"/>
              </a:ext>
            </a:extLst>
          </p:cNvPr>
          <p:cNvSpPr>
            <a:spLocks xmlns:a="http://schemas.openxmlformats.org/drawingml/2006/main" noGrp="1"/>
          </p:cNvSpPr>
          <p:nvPr/>
        </p:nvSpPr>
        <p:spPr>
          <a:xfrm xmlns:a="http://schemas.openxmlformats.org/drawingml/2006/main">
            <a:off x="9258300" y="3590925"/>
            <a:ext cx="21621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Household-scoped data</a:t>
            </a:r>
          </a:p>
        </p:txBody>
      </p:sp>
      <p:sp>
        <p:nvSpPr>
          <p:cNvPr id="20" name="architecture-b-3">
            <a:extLst xmlns:a="http://schemas.openxmlformats.org/drawingml/2006/main">
              <a:ext uri="{FF2B5EF4-FFF2-40B4-BE49-F238E27FC236}">
                <a16:creationId xmlns:a16="http://schemas.microsoft.com/office/drawing/2014/main" id="{973F22A7-BD5C-4C04-9E4D-F6AEFE436281}"/>
              </a:ext>
            </a:extLst>
          </p:cNvPr>
          <p:cNvSpPr>
            <a:spLocks xmlns:a="http://schemas.openxmlformats.org/drawingml/2006/main" noGrp="1"/>
          </p:cNvSpPr>
          <p:nvPr/>
        </p:nvSpPr>
        <p:spPr>
          <a:xfrm xmlns:a="http://schemas.openxmlformats.org/drawingml/2006/main">
            <a:off x="9258300" y="4419600"/>
            <a:ext cx="21621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Version check on write</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Compare and swap</a:t>
            </a:r>
          </a:p>
        </p:txBody>
      </p:sp>
      <p:cxnSp>
        <p:nvCxnSpPr>
          <p:cNvPr id="46" name="architecture-link-0"/>
          <p:cNvCxnSpPr>
            <a:stCxn xmlns:a="http://schemas.openxmlformats.org/drawingml/2006/main" id="6" idx="3"/>
            <a:endCxn xmlns:a="http://schemas.openxmlformats.org/drawingml/2006/main" id="10" idx="1"/>
          </p:cNvCxnSpPr>
          <p:nvPr/>
        </p:nvCxnSpPr>
        <p:spPr>
          <a:xfrm xmlns:a="http://schemas.openxmlformats.org/drawingml/2006/main">
            <a:off x="303847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architecture-link-1"/>
          <p:cNvCxnSpPr>
            <a:stCxn xmlns:a="http://schemas.openxmlformats.org/drawingml/2006/main" id="10" idx="3"/>
            <a:endCxn xmlns:a="http://schemas.openxmlformats.org/drawingml/2006/main" id="14" idx="1"/>
          </p:cNvCxnSpPr>
          <p:nvPr/>
        </p:nvCxnSpPr>
        <p:spPr>
          <a:xfrm xmlns:a="http://schemas.openxmlformats.org/drawingml/2006/main">
            <a:off x="5867400"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architecture-link-2"/>
          <p:cNvCxnSpPr>
            <a:stCxn xmlns:a="http://schemas.openxmlformats.org/drawingml/2006/main" id="14" idx="3"/>
            <a:endCxn xmlns:a="http://schemas.openxmlformats.org/drawingml/2006/main" id="18" idx="1"/>
          </p:cNvCxnSpPr>
          <p:nvPr/>
        </p:nvCxnSpPr>
        <p:spPr>
          <a:xfrm xmlns:a="http://schemas.openxmlformats.org/drawingml/2006/main">
            <a:off x="869632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auth-note">
            <a:extLst xmlns:a="http://schemas.openxmlformats.org/drawingml/2006/main">
              <a:ext uri="{FF2B5EF4-FFF2-40B4-BE49-F238E27FC236}">
                <a16:creationId xmlns:a16="http://schemas.microsoft.com/office/drawing/2014/main" id="{9E30CB84-B1FD-4FDA-8FE6-C67DF6B096F9}"/>
              </a:ext>
            </a:extLst>
          </p:cNvPr>
          <p:cNvSpPr>
            <a:spLocks xmlns:a="http://schemas.openxmlformats.org/drawingml/2006/main" noGrp="1"/>
          </p:cNvSpPr>
          <p:nvPr/>
        </p:nvSpPr>
        <p:spPr>
          <a:xfrm xmlns:a="http://schemas.openxmlformats.org/drawingml/2006/main">
            <a:off x="609600" y="56673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02943"/>
                </a:solidFill>
                <a:latin typeface="Noto Sans"/>
                <a:ea typeface="Noto Sans"/>
                <a:cs typeface="Noto Sans"/>
              </a:defRPr>
            </a:pPr>
            <a:r>
              <a:rPr sz="1725" b="0">
                <a:solidFill>
                  <a:srgbClr val="102943"/>
                </a:solidFill>
                <a:latin typeface="Noto Sans"/>
                <a:ea typeface="Noto Sans"/>
                <a:cs typeface="Noto Sans"/>
              </a:rPr>
              <a:t>Owner sign-in and one-time helper invitations establish who may act.</a:t>
            </a:r>
          </a:p>
        </p:txBody>
      </p:sp>
      <p:sp>
        <p:nvSpPr>
          <p:cNvPr id="25" name="footer">
            <a:extLst xmlns:a="http://schemas.openxmlformats.org/drawingml/2006/main">
              <a:ext uri="{FF2B5EF4-FFF2-40B4-BE49-F238E27FC236}">
                <a16:creationId xmlns:a16="http://schemas.microsoft.com/office/drawing/2014/main" id="{E0A97ACB-BF55-47B0-9276-487023DF45D8}"/>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Deterministic language simulation. Live Alexa+ onboarding remains a next step.</a:t>
            </a:r>
          </a:p>
        </p:txBody>
      </p:sp>
    </p:spTree>
    <p:extLst>
      <p:ext uri="{BB962C8B-B14F-4D97-AF65-F5344CB8AC3E}">
        <p14:creationId xmlns:p14="http://schemas.microsoft.com/office/powerpoint/2010/main" val="1383431759"/>
      </p:ext>
    </p:extLst>
  </p:cSld>
</p:sld>
</file>

<file path=ppt/slides/slide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8" name="wordmark">
            <a:extLst xmlns:a="http://schemas.openxmlformats.org/drawingml/2006/main">
              <a:ext uri="{FF2B5EF4-FFF2-40B4-BE49-F238E27FC236}">
                <a16:creationId xmlns:a16="http://schemas.microsoft.com/office/drawing/2014/main" id="{42E24C39-9696-42A3-A432-F428595EA09A}"/>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F06C5FD0-B071-46D4-B4A7-0A29A252731D}"/>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05</a:t>
            </a:r>
          </a:p>
        </p:txBody>
      </p:sp>
      <p:sp>
        <p:nvSpPr>
          <p:cNvPr id="3" name="title">
            <a:extLst xmlns:a="http://schemas.openxmlformats.org/drawingml/2006/main">
              <a:ext uri="{FF2B5EF4-FFF2-40B4-BE49-F238E27FC236}">
                <a16:creationId xmlns:a16="http://schemas.microsoft.com/office/drawing/2014/main" id="{1A40AA2C-ABD0-4DE4-BA39-EC411D37D849}"/>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Where KindHandoff fits</a:t>
            </a:r>
          </a:p>
        </p:txBody>
      </p:sp>
      <p:sp>
        <p:nvSpPr>
          <p:cNvPr id="4" name="subtitle">
            <a:extLst xmlns:a="http://schemas.openxmlformats.org/drawingml/2006/main">
              <a:ext uri="{FF2B5EF4-FFF2-40B4-BE49-F238E27FC236}">
                <a16:creationId xmlns:a16="http://schemas.microsoft.com/office/drawing/2014/main" id="{EEE44E57-5574-498D-985B-4107BCD92E54}"/>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Care calendars, voice notes, and handoff summaries already exist.</a:t>
            </a:r>
          </a:p>
        </p:txBody>
      </p:sp>
      <p:graphicFrame>
        <p:nvGraphicFramePr>
          <p:cNvPr id="12" name=""/>
          <p:cNvGraphicFramePr/>
          <p:nvPr/>
        </p:nvGraphicFramePr>
        <p:xfrm>
          <a:off xmlns:a="http://schemas.openxmlformats.org/drawingml/2006/main" x="609600" y="2819400"/>
          <a:ext xmlns:a="http://schemas.openxmlformats.org/drawingml/2006/main" cx="10972800" cy="2419350"/>
        </p:xfrm>
        <a:graphic xmlns:a="http://schemas.openxmlformats.org/drawingml/2006/main">
          <a:graphicData uri="http://schemas.openxmlformats.org/drawingml/2006/table">
            <a:tbl>
              <a:tblPr firstRow="1" bandRow="0"/>
              <a:tblGrid>
                <a:gridCol w="3333750"/>
                <a:gridCol w="7639050"/>
              </a:tblGrid>
              <a:tr h="495300">
                <a:tc>
                  <a:txBody>
                    <a:bodyPr>
                      <a:noAutofit/>
                    </a:bodyPr>
                    <a:lstStyle/>
                    <a:p>
                      <a:r>
                        <a:rPr sz="1500" b="1">
                          <a:solidFill>
                            <a:srgbClr val="FFFFFF"/>
                          </a:solidFill>
                          <a:latin typeface="Noto Sans"/>
                          <a:ea typeface="Noto Sans"/>
                          <a:cs typeface="Noto Sans"/>
                        </a:rPr>
                        <a:t>Alternative</a:t>
                      </a:r>
                    </a:p>
                  </a:txBody>
                  <a:tcPr marL="171450" marR="171450" marT="123825" marB="95250" anchor="ctr">
                    <a:solidFill>
                      <a:srgbClr val="102943"/>
                    </a:solidFill>
                  </a:tcPr>
                </a:tc>
                <a:tc>
                  <a:txBody>
                    <a:bodyPr>
                      <a:noAutofit/>
                    </a:bodyPr>
                    <a:lstStyle/>
                    <a:p>
                      <a:r>
                        <a:rPr sz="1500" b="1">
                          <a:solidFill>
                            <a:srgbClr val="FFFFFF"/>
                          </a:solidFill>
                          <a:latin typeface="Noto Sans"/>
                          <a:ea typeface="Noto Sans"/>
                          <a:cs typeface="Noto Sans"/>
                        </a:rPr>
                        <a:t>Published strength</a:t>
                      </a:r>
                    </a:p>
                  </a:txBody>
                  <a:tcPr marL="171450" marR="171450" marT="123825" marB="95250" anchor="ctr">
                    <a:solidFill>
                      <a:srgbClr val="102943"/>
                    </a:solidFill>
                  </a:tcPr>
                </a:tc>
              </a:tr>
              <a:tr h="638175">
                <a:tc>
                  <a:txBody>
                    <a:bodyPr>
                      <a:noAutofit/>
                    </a:bodyPr>
                    <a:lstStyle/>
                    <a:p>
                      <a:r>
                        <a:rPr sz="1875" b="1">
                          <a:solidFill>
                            <a:srgbClr val="102943"/>
                          </a:solidFill>
                          <a:latin typeface="Noto Sans"/>
                          <a:ea typeface="Noto Sans"/>
                          <a:cs typeface="Noto Sans"/>
                        </a:rPr>
                        <a:t>Caring Village</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Care calendar, shared tasks, and an AI assistant</a:t>
                      </a:r>
                    </a:p>
                  </a:txBody>
                  <a:tcPr marL="171450" marR="171450" marT="123825" marB="95250" anchor="ctr">
                    <a:solidFill>
                      <a:srgbClr val="FFFFFF"/>
                    </a:solidFill>
                  </a:tcPr>
                </a:tc>
              </a:tr>
              <a:tr h="638175">
                <a:tc>
                  <a:txBody>
                    <a:bodyPr>
                      <a:noAutofit/>
                    </a:bodyPr>
                    <a:lstStyle/>
                    <a:p>
                      <a:r>
                        <a:rPr sz="1875" b="1">
                          <a:solidFill>
                            <a:srgbClr val="102943"/>
                          </a:solidFill>
                          <a:latin typeface="Noto Sans"/>
                          <a:ea typeface="Noto Sans"/>
                          <a:cs typeface="Noto Sans"/>
                        </a:rPr>
                        <a:t>Family CareRelay</a:t>
                      </a:r>
                    </a:p>
                  </a:txBody>
                  <a:tcPr marL="171450" marR="171450" marT="123825" marB="95250" anchor="ctr">
                    <a:solidFill>
                      <a:srgbClr val="F6F8FB"/>
                    </a:solidFill>
                  </a:tcPr>
                </a:tc>
                <a:tc>
                  <a:txBody>
                    <a:bodyPr>
                      <a:noAutofit/>
                    </a:bodyPr>
                    <a:lstStyle/>
                    <a:p>
                      <a:r>
                        <a:rPr sz="1875" b="0">
                          <a:solidFill>
                            <a:srgbClr val="102943"/>
                          </a:solidFill>
                          <a:latin typeface="Noto Sans"/>
                          <a:ea typeface="Noto Sans"/>
                          <a:cs typeface="Noto Sans"/>
                        </a:rPr>
                        <a:t>Confirmed voice entries and handoff summaries</a:t>
                      </a:r>
                    </a:p>
                  </a:txBody>
                  <a:tcPr marL="171450" marR="171450" marT="123825" marB="95250" anchor="ctr">
                    <a:solidFill>
                      <a:srgbClr val="F6F8FB"/>
                    </a:solidFill>
                  </a:tcPr>
                </a:tc>
              </a:tr>
              <a:tr h="638175">
                <a:tc>
                  <a:txBody>
                    <a:bodyPr>
                      <a:noAutofit/>
                    </a:bodyPr>
                    <a:lstStyle/>
                    <a:p>
                      <a:r>
                        <a:rPr sz="1875" b="1">
                          <a:solidFill>
                            <a:srgbClr val="102943"/>
                          </a:solidFill>
                          <a:latin typeface="Noto Sans"/>
                          <a:ea typeface="Noto Sans"/>
                          <a:cs typeface="Noto Sans"/>
                        </a:rPr>
                        <a:t>Group chat + calendar</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Familiar tools the household already uses</a:t>
                      </a:r>
                    </a:p>
                  </a:txBody>
                  <a:tcPr marL="171450" marR="171450" marT="123825" marB="95250" anchor="ctr">
                    <a:solidFill>
                      <a:srgbClr val="FFFFFF"/>
                    </a:solidFill>
                  </a:tcPr>
                </a:tc>
              </a:tr>
            </a:tbl>
          </a:graphicData>
        </a:graphic>
      </p:graphicFrame>
      <p:sp>
        <p:nvSpPr>
          <p:cNvPr id="6" name="our-focus">
            <a:extLst xmlns:a="http://schemas.openxmlformats.org/drawingml/2006/main">
              <a:ext uri="{FF2B5EF4-FFF2-40B4-BE49-F238E27FC236}">
                <a16:creationId xmlns:a16="http://schemas.microsoft.com/office/drawing/2014/main" id="{C53007C9-2EAF-4329-A137-748B68142A49}"/>
              </a:ext>
            </a:extLst>
          </p:cNvPr>
          <p:cNvSpPr>
            <a:spLocks xmlns:a="http://schemas.openxmlformats.org/drawingml/2006/main" noGrp="1"/>
          </p:cNvSpPr>
          <p:nvPr/>
        </p:nvSpPr>
        <p:spPr>
          <a:xfrm xmlns:a="http://schemas.openxmlformats.org/drawingml/2006/main">
            <a:off x="609600" y="5476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260DF"/>
                </a:solidFill>
                <a:latin typeface="Noto Sans"/>
                <a:ea typeface="Noto Sans"/>
                <a:cs typeface="Noto Sans"/>
              </a:defRPr>
            </a:pPr>
            <a:r>
              <a:rPr sz="2250" b="1">
                <a:solidFill>
                  <a:srgbClr val="2260DF"/>
                </a:solidFill>
                <a:latin typeface="Noto Sans"/>
                <a:ea typeface="Noto Sans"/>
                <a:cs typeface="Noto Sans"/>
              </a:rPr>
              <a:t>KindHandoff focuses on repairing disrupted commitments</a:t>
            </a:r>
          </a:p>
        </p:txBody>
      </p:sp>
      <p:sp>
        <p:nvSpPr>
          <p:cNvPr id="7" name="footer">
            <a:extLst xmlns:a="http://schemas.openxmlformats.org/drawingml/2006/main">
              <a:ext uri="{FF2B5EF4-FFF2-40B4-BE49-F238E27FC236}">
                <a16:creationId xmlns:a16="http://schemas.microsoft.com/office/drawing/2014/main" id="{843A4A43-398D-495C-AE32-79054A3F131D}"/>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Published feature comparison. We have not established that this workflow is exclusive.</a:t>
            </a:r>
          </a:p>
        </p:txBody>
      </p:sp>
    </p:spTree>
    <p:extLst>
      <p:ext uri="{BB962C8B-B14F-4D97-AF65-F5344CB8AC3E}">
        <p14:creationId xmlns:p14="http://schemas.microsoft.com/office/powerpoint/2010/main" val="994754436"/>
      </p:ext>
    </p:extLst>
  </p:cSld>
</p:sld>
</file>

<file path=ppt/slides/slide6.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2" name="wordmark">
            <a:extLst xmlns:a="http://schemas.openxmlformats.org/drawingml/2006/main">
              <a:ext uri="{FF2B5EF4-FFF2-40B4-BE49-F238E27FC236}">
                <a16:creationId xmlns:a16="http://schemas.microsoft.com/office/drawing/2014/main" id="{CCBF2AF6-FB26-4607-9839-1C75B4EB2224}"/>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47B30E45-C170-462F-B198-BA4CFCCD99CF}"/>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06</a:t>
            </a:r>
          </a:p>
        </p:txBody>
      </p:sp>
      <p:sp>
        <p:nvSpPr>
          <p:cNvPr id="3" name="title">
            <a:extLst xmlns:a="http://schemas.openxmlformats.org/drawingml/2006/main">
              <a:ext uri="{FF2B5EF4-FFF2-40B4-BE49-F238E27FC236}">
                <a16:creationId xmlns:a16="http://schemas.microsoft.com/office/drawing/2014/main" id="{71FF1401-A043-486A-A0AC-D2749B67D3EE}"/>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household subscription to test</a:t>
            </a:r>
          </a:p>
        </p:txBody>
      </p:sp>
      <p:sp>
        <p:nvSpPr>
          <p:cNvPr id="4" name="subtitle">
            <a:extLst xmlns:a="http://schemas.openxmlformats.org/drawingml/2006/main">
              <a:ext uri="{FF2B5EF4-FFF2-40B4-BE49-F238E27FC236}">
                <a16:creationId xmlns:a16="http://schemas.microsoft.com/office/drawing/2014/main" id="{26FD2A88-A407-4902-B7D5-21FA5311D369}"/>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first customer coordinates recurring practical support for a parent.</a:t>
            </a:r>
          </a:p>
        </p:txBody>
      </p:sp>
      <p:sp>
        <p:nvSpPr>
          <p:cNvPr id="5" name="price">
            <a:extLst xmlns:a="http://schemas.openxmlformats.org/drawingml/2006/main">
              <a:ext uri="{FF2B5EF4-FFF2-40B4-BE49-F238E27FC236}">
                <a16:creationId xmlns:a16="http://schemas.microsoft.com/office/drawing/2014/main" id="{E693CBAC-1C98-4571-A10A-1E5603FF17E2}"/>
              </a:ext>
            </a:extLst>
          </p:cNvPr>
          <p:cNvSpPr>
            <a:spLocks xmlns:a="http://schemas.openxmlformats.org/drawingml/2006/main" noGrp="1"/>
          </p:cNvSpPr>
          <p:nvPr/>
        </p:nvSpPr>
        <p:spPr>
          <a:xfrm xmlns:a="http://schemas.openxmlformats.org/drawingml/2006/main">
            <a:off x="609600" y="2809875"/>
            <a:ext cx="4095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400" b="1">
                <a:solidFill>
                  <a:srgbClr val="2260DF"/>
                </a:solidFill>
                <a:latin typeface="Noto Sans"/>
                <a:ea typeface="Noto Sans"/>
                <a:cs typeface="Noto Sans"/>
              </a:defRPr>
            </a:pPr>
            <a:r>
              <a:rPr sz="8400" b="1">
                <a:solidFill>
                  <a:srgbClr val="2260DF"/>
                </a:solidFill>
                <a:latin typeface="Noto Sans"/>
                <a:ea typeface="Noto Sans"/>
                <a:cs typeface="Noto Sans"/>
              </a:rPr>
              <a:t>$12</a:t>
            </a:r>
          </a:p>
        </p:txBody>
      </p:sp>
      <p:sp>
        <p:nvSpPr>
          <p:cNvPr id="6" name="price-unit">
            <a:extLst xmlns:a="http://schemas.openxmlformats.org/drawingml/2006/main">
              <a:ext uri="{FF2B5EF4-FFF2-40B4-BE49-F238E27FC236}">
                <a16:creationId xmlns:a16="http://schemas.microsoft.com/office/drawing/2014/main" id="{025ACF4D-CA33-4AB4-80F2-3D76AD606B58}"/>
              </a:ext>
            </a:extLst>
          </p:cNvPr>
          <p:cNvSpPr>
            <a:spLocks xmlns:a="http://schemas.openxmlformats.org/drawingml/2006/main" noGrp="1"/>
          </p:cNvSpPr>
          <p:nvPr/>
        </p:nvSpPr>
        <p:spPr>
          <a:xfrm xmlns:a="http://schemas.openxmlformats.org/drawingml/2006/main">
            <a:off x="666750" y="4371975"/>
            <a:ext cx="447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02943"/>
                </a:solidFill>
                <a:latin typeface="Noto Sans"/>
                <a:ea typeface="Noto Sans"/>
                <a:cs typeface="Noto Sans"/>
              </a:defRPr>
            </a:pPr>
            <a:r>
              <a:rPr sz="2250" b="1">
                <a:solidFill>
                  <a:srgbClr val="102943"/>
                </a:solidFill>
                <a:latin typeface="Noto Sans"/>
                <a:ea typeface="Noto Sans"/>
                <a:cs typeface="Noto Sans"/>
              </a:rPr>
              <a:t>per household / month</a:t>
            </a:r>
          </a:p>
        </p:txBody>
      </p:sp>
      <p:sp>
        <p:nvSpPr>
          <p:cNvPr id="7" name="hypothesis-label">
            <a:extLst xmlns:a="http://schemas.openxmlformats.org/drawingml/2006/main">
              <a:ext uri="{FF2B5EF4-FFF2-40B4-BE49-F238E27FC236}">
                <a16:creationId xmlns:a16="http://schemas.microsoft.com/office/drawing/2014/main" id="{FA884B41-D669-4861-B43F-60662AC95112}"/>
              </a:ext>
            </a:extLst>
          </p:cNvPr>
          <p:cNvSpPr>
            <a:spLocks xmlns:a="http://schemas.openxmlformats.org/drawingml/2006/main" noGrp="1"/>
          </p:cNvSpPr>
          <p:nvPr/>
        </p:nvSpPr>
        <p:spPr>
          <a:xfrm xmlns:a="http://schemas.openxmlformats.org/drawingml/2006/main">
            <a:off x="666750" y="4924425"/>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Pricing hypothesis</a:t>
            </a:r>
          </a:p>
        </p:txBody>
      </p:sp>
      <p:sp>
        <p:nvSpPr>
          <p:cNvPr id="8" name="business-benefit">
            <a:extLst xmlns:a="http://schemas.openxmlformats.org/drawingml/2006/main">
              <a:ext uri="{FF2B5EF4-FFF2-40B4-BE49-F238E27FC236}">
                <a16:creationId xmlns:a16="http://schemas.microsoft.com/office/drawing/2014/main" id="{ACD849E3-0973-4B24-AD06-2C542632A63E}"/>
              </a:ext>
            </a:extLst>
          </p:cNvPr>
          <p:cNvSpPr>
            <a:spLocks xmlns:a="http://schemas.openxmlformats.org/drawingml/2006/main" noGrp="1"/>
          </p:cNvSpPr>
          <p:nvPr/>
        </p:nvSpPr>
        <p:spPr>
          <a:xfrm xmlns:a="http://schemas.openxmlformats.org/drawingml/2006/main">
            <a:off x="6115050" y="2886075"/>
            <a:ext cx="5467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02943"/>
                </a:solidFill>
                <a:latin typeface="Noto Sans"/>
                <a:ea typeface="Noto Sans"/>
                <a:cs typeface="Noto Sans"/>
              </a:defRPr>
            </a:pPr>
            <a:r>
              <a:rPr sz="2925" b="1">
                <a:solidFill>
                  <a:srgbClr val="102943"/>
                </a:solidFill>
                <a:latin typeface="Noto Sans"/>
                <a:ea typeface="Noto Sans"/>
                <a:cs typeface="Noto Sans"/>
              </a:rPr>
              <a:t>Every helper included</a:t>
            </a:r>
          </a:p>
        </p:txBody>
      </p:sp>
      <p:sp>
        <p:nvSpPr>
          <p:cNvPr id="9" name="business-rationale">
            <a:extLst xmlns:a="http://schemas.openxmlformats.org/drawingml/2006/main">
              <a:ext uri="{FF2B5EF4-FFF2-40B4-BE49-F238E27FC236}">
                <a16:creationId xmlns:a16="http://schemas.microsoft.com/office/drawing/2014/main" id="{33D8CA13-C753-413C-A329-D9181922F5B2}"/>
              </a:ext>
            </a:extLst>
          </p:cNvPr>
          <p:cNvSpPr>
            <a:spLocks xmlns:a="http://schemas.openxmlformats.org/drawingml/2006/main" noGrp="1"/>
          </p:cNvSpPr>
          <p:nvPr/>
        </p:nvSpPr>
        <p:spPr>
          <a:xfrm xmlns:a="http://schemas.openxmlformats.org/drawingml/2006/main">
            <a:off x="6115050" y="3752850"/>
            <a:ext cx="5467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Charging per helper would</a:t>
            </a:r>
          </a:p>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discourage participation.</a:t>
            </a:r>
          </a:p>
        </p:txBody>
      </p:sp>
      <p:sp>
        <p:nvSpPr>
          <p:cNvPr id="10" name="cost-discipline">
            <a:extLst xmlns:a="http://schemas.openxmlformats.org/drawingml/2006/main">
              <a:ext uri="{FF2B5EF4-FFF2-40B4-BE49-F238E27FC236}">
                <a16:creationId xmlns:a16="http://schemas.microsoft.com/office/drawing/2014/main" id="{A3B1026E-074B-4258-AAD3-5DC7D00A45F4}"/>
              </a:ext>
            </a:extLst>
          </p:cNvPr>
          <p:cNvSpPr>
            <a:spLocks xmlns:a="http://schemas.openxmlformats.org/drawingml/2006/main" noGrp="1"/>
          </p:cNvSpPr>
          <p:nvPr/>
        </p:nvSpPr>
        <p:spPr>
          <a:xfrm xmlns:a="http://schemas.openxmlformats.org/drawingml/2006/main">
            <a:off x="6115050" y="4933950"/>
            <a:ext cx="5467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Deterministic core rules keep</a:t>
            </a:r>
          </a:p>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paid model calls optional.</a:t>
            </a:r>
          </a:p>
        </p:txBody>
      </p:sp>
      <p:sp>
        <p:nvSpPr>
          <p:cNvPr id="11" name="footer">
            <a:extLst xmlns:a="http://schemas.openxmlformats.org/drawingml/2006/main">
              <a:ext uri="{FF2B5EF4-FFF2-40B4-BE49-F238E27FC236}">
                <a16:creationId xmlns:a16="http://schemas.microsoft.com/office/drawing/2014/main" id="{E4AB9A26-CE99-464B-BBCE-094F19E0093F}"/>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Pre-pilot. No interviews, paying customers, or revenue claimed.</a:t>
            </a:r>
          </a:p>
        </p:txBody>
      </p:sp>
    </p:spTree>
    <p:extLst>
      <p:ext uri="{BB962C8B-B14F-4D97-AF65-F5344CB8AC3E}">
        <p14:creationId xmlns:p14="http://schemas.microsoft.com/office/powerpoint/2010/main" val="1576449384"/>
      </p:ext>
    </p:extLst>
  </p:cSld>
</p:sld>
</file>

<file path=ppt/slides/slide7.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3" name="wordmark">
            <a:extLst xmlns:a="http://schemas.openxmlformats.org/drawingml/2006/main">
              <a:ext uri="{FF2B5EF4-FFF2-40B4-BE49-F238E27FC236}">
                <a16:creationId xmlns:a16="http://schemas.microsoft.com/office/drawing/2014/main" id="{44C150DA-8820-4783-A9A6-43A937433319}"/>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EE4906B4-9C84-4A95-8C3B-5AE4753D8ABB}"/>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07</a:t>
            </a:r>
          </a:p>
        </p:txBody>
      </p:sp>
      <p:sp>
        <p:nvSpPr>
          <p:cNvPr id="3" name="title">
            <a:extLst xmlns:a="http://schemas.openxmlformats.org/drawingml/2006/main">
              <a:ext uri="{FF2B5EF4-FFF2-40B4-BE49-F238E27FC236}">
                <a16:creationId xmlns:a16="http://schemas.microsoft.com/office/drawing/2014/main" id="{6295177A-E0D5-4BB7-BA2C-EF3023AEC9F7}"/>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Planned household validation</a:t>
            </a:r>
          </a:p>
        </p:txBody>
      </p:sp>
      <p:sp>
        <p:nvSpPr>
          <p:cNvPr id="4" name="subtitle">
            <a:extLst xmlns:a="http://schemas.openxmlformats.org/drawingml/2006/main">
              <a:ext uri="{FF2B5EF4-FFF2-40B4-BE49-F238E27FC236}">
                <a16:creationId xmlns:a16="http://schemas.microsoft.com/office/drawing/2014/main" id="{4090F66B-F91E-44B6-BE52-8749FBF13840}"/>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Adoption depends on helpers participating, not only the coordinator signing in.</a:t>
            </a:r>
          </a:p>
        </p:txBody>
      </p:sp>
      <p:sp>
        <p:nvSpPr>
          <p:cNvPr id="5" name="interviews-number">
            <a:extLst xmlns:a="http://schemas.openxmlformats.org/drawingml/2006/main">
              <a:ext uri="{FF2B5EF4-FFF2-40B4-BE49-F238E27FC236}">
                <a16:creationId xmlns:a16="http://schemas.microsoft.com/office/drawing/2014/main" id="{C125C71A-15B9-4D98-8A29-BFDF9DA9BBD0}"/>
              </a:ext>
            </a:extLst>
          </p:cNvPr>
          <p:cNvSpPr>
            <a:spLocks xmlns:a="http://schemas.openxmlformats.org/drawingml/2006/main" noGrp="1"/>
          </p:cNvSpPr>
          <p:nvPr/>
        </p:nvSpPr>
        <p:spPr>
          <a:xfrm xmlns:a="http://schemas.openxmlformats.org/drawingml/2006/main">
            <a:off x="60960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10</a:t>
            </a:r>
          </a:p>
        </p:txBody>
      </p:sp>
      <p:sp>
        <p:nvSpPr>
          <p:cNvPr id="6" name="interviews-label">
            <a:extLst xmlns:a="http://schemas.openxmlformats.org/drawingml/2006/main">
              <a:ext uri="{FF2B5EF4-FFF2-40B4-BE49-F238E27FC236}">
                <a16:creationId xmlns:a16="http://schemas.microsoft.com/office/drawing/2014/main" id="{CFF1002F-A3A8-4CAC-80F3-E166C4DED8F1}"/>
              </a:ext>
            </a:extLst>
          </p:cNvPr>
          <p:cNvSpPr>
            <a:spLocks xmlns:a="http://schemas.openxmlformats.org/drawingml/2006/main" noGrp="1"/>
          </p:cNvSpPr>
          <p:nvPr/>
        </p:nvSpPr>
        <p:spPr>
          <a:xfrm xmlns:a="http://schemas.openxmlformats.org/drawingml/2006/main">
            <a:off x="609600" y="40386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interviews</a:t>
            </a:r>
          </a:p>
        </p:txBody>
      </p:sp>
      <p:sp>
        <p:nvSpPr>
          <p:cNvPr id="7" name="interviews-detail">
            <a:extLst xmlns:a="http://schemas.openxmlformats.org/drawingml/2006/main">
              <a:ext uri="{FF2B5EF4-FFF2-40B4-BE49-F238E27FC236}">
                <a16:creationId xmlns:a16="http://schemas.microsoft.com/office/drawing/2014/main" id="{6751364C-CE9C-402F-8B67-57DCBC2DC2F1}"/>
              </a:ext>
            </a:extLst>
          </p:cNvPr>
          <p:cNvSpPr>
            <a:spLocks xmlns:a="http://schemas.openxmlformats.org/drawingml/2006/main" noGrp="1"/>
          </p:cNvSpPr>
          <p:nvPr/>
        </p:nvSpPr>
        <p:spPr>
          <a:xfrm xmlns:a="http://schemas.openxmlformats.org/drawingml/2006/main">
            <a:off x="609600" y="4629150"/>
            <a:ext cx="4524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Coordinators, helpers, and</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adults receiving support</a:t>
            </a:r>
          </a:p>
        </p:txBody>
      </p:sp>
      <p:sp>
        <p:nvSpPr>
          <p:cNvPr id="8" name="pilot-number">
            <a:extLst xmlns:a="http://schemas.openxmlformats.org/drawingml/2006/main">
              <a:ext uri="{FF2B5EF4-FFF2-40B4-BE49-F238E27FC236}">
                <a16:creationId xmlns:a16="http://schemas.microsoft.com/office/drawing/2014/main" id="{EA178D45-B681-44BA-AEAD-1263D795242F}"/>
              </a:ext>
            </a:extLst>
          </p:cNvPr>
          <p:cNvSpPr>
            <a:spLocks xmlns:a="http://schemas.openxmlformats.org/drawingml/2006/main" noGrp="1"/>
          </p:cNvSpPr>
          <p:nvPr/>
        </p:nvSpPr>
        <p:spPr>
          <a:xfrm xmlns:a="http://schemas.openxmlformats.org/drawingml/2006/main">
            <a:off x="664845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5</a:t>
            </a:r>
          </a:p>
        </p:txBody>
      </p:sp>
      <p:sp>
        <p:nvSpPr>
          <p:cNvPr id="9" name="pilot-label">
            <a:extLst xmlns:a="http://schemas.openxmlformats.org/drawingml/2006/main">
              <a:ext uri="{FF2B5EF4-FFF2-40B4-BE49-F238E27FC236}">
                <a16:creationId xmlns:a16="http://schemas.microsoft.com/office/drawing/2014/main" id="{F9F60D8E-53BE-4A6F-926C-11FEBD2C9D05}"/>
              </a:ext>
            </a:extLst>
          </p:cNvPr>
          <p:cNvSpPr>
            <a:spLocks xmlns:a="http://schemas.openxmlformats.org/drawingml/2006/main" noGrp="1"/>
          </p:cNvSpPr>
          <p:nvPr/>
        </p:nvSpPr>
        <p:spPr>
          <a:xfrm xmlns:a="http://schemas.openxmlformats.org/drawingml/2006/main">
            <a:off x="6648450" y="4038600"/>
            <a:ext cx="4933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households</a:t>
            </a:r>
          </a:p>
        </p:txBody>
      </p:sp>
      <p:sp>
        <p:nvSpPr>
          <p:cNvPr id="10" name="pilot-detail">
            <a:extLst xmlns:a="http://schemas.openxmlformats.org/drawingml/2006/main">
              <a:ext uri="{FF2B5EF4-FFF2-40B4-BE49-F238E27FC236}">
                <a16:creationId xmlns:a16="http://schemas.microsoft.com/office/drawing/2014/main" id="{C19E6A9C-9986-4748-ACEF-28B8535AF385}"/>
              </a:ext>
            </a:extLst>
          </p:cNvPr>
          <p:cNvSpPr>
            <a:spLocks xmlns:a="http://schemas.openxmlformats.org/drawingml/2006/main" noGrp="1"/>
          </p:cNvSpPr>
          <p:nvPr/>
        </p:nvSpPr>
        <p:spPr>
          <a:xfrm xmlns:a="http://schemas.openxmlformats.org/drawingml/2006/main">
            <a:off x="6648450" y="4629150"/>
            <a:ext cx="49339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Four-week pilot after</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 baseline diary</a:t>
            </a:r>
          </a:p>
        </p:txBody>
      </p:sp>
      <p:sp>
        <p:nvSpPr>
          <p:cNvPr id="11" name="metric">
            <a:extLst xmlns:a="http://schemas.openxmlformats.org/drawingml/2006/main">
              <a:ext uri="{FF2B5EF4-FFF2-40B4-BE49-F238E27FC236}">
                <a16:creationId xmlns:a16="http://schemas.microsoft.com/office/drawing/2014/main" id="{6518F526-5916-4DED-A86F-820F18274EC7}"/>
              </a:ext>
            </a:extLst>
          </p:cNvPr>
          <p:cNvSpPr>
            <a:spLocks xmlns:a="http://schemas.openxmlformats.org/drawingml/2006/main" noGrp="1"/>
          </p:cNvSpPr>
          <p:nvPr/>
        </p:nvSpPr>
        <p:spPr>
          <a:xfrm xmlns:a="http://schemas.openxmlformats.org/drawingml/2006/main">
            <a:off x="609600" y="5791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02943"/>
                </a:solidFill>
                <a:latin typeface="Noto Sans"/>
                <a:ea typeface="Noto Sans"/>
                <a:cs typeface="Noto Sans"/>
              </a:defRPr>
            </a:pPr>
            <a:r>
              <a:rPr sz="2175" b="1">
                <a:solidFill>
                  <a:srgbClr val="102943"/>
                </a:solidFill>
                <a:latin typeface="Noto Sans"/>
                <a:ea typeface="Noto Sans"/>
                <a:cs typeface="Noto Sans"/>
              </a:rPr>
              <a:t>Primary measure: time to an accepted replacement</a:t>
            </a:r>
          </a:p>
        </p:txBody>
      </p:sp>
      <p:sp>
        <p:nvSpPr>
          <p:cNvPr id="12" name="footer">
            <a:extLst xmlns:a="http://schemas.openxmlformats.org/drawingml/2006/main">
              <a:ext uri="{FF2B5EF4-FFF2-40B4-BE49-F238E27FC236}">
                <a16:creationId xmlns:a16="http://schemas.microsoft.com/office/drawing/2014/main" id="{D64BC637-EA73-4D89-86FC-037BAF4265DF}"/>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Also measure follow-up effort, repeated helper use, and voluntary paid continuation.</a:t>
            </a:r>
          </a:p>
        </p:txBody>
      </p:sp>
    </p:spTree>
    <p:extLst>
      <p:ext uri="{BB962C8B-B14F-4D97-AF65-F5344CB8AC3E}">
        <p14:creationId xmlns:p14="http://schemas.microsoft.com/office/powerpoint/2010/main" val="1673088521"/>
      </p:ext>
    </p:extLst>
  </p:cSld>
</p:sld>
</file>

<file path=ppt/slides/slide8.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4" name="wordmark">
            <a:extLst xmlns:a="http://schemas.openxmlformats.org/drawingml/2006/main">
              <a:ext uri="{FF2B5EF4-FFF2-40B4-BE49-F238E27FC236}">
                <a16:creationId xmlns:a16="http://schemas.microsoft.com/office/drawing/2014/main" id="{384E9A23-28C2-4F42-ACA8-5DE0FA4FFE36}"/>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A3BC6D61-1A18-418A-A85B-DCB1FD20DE6C}"/>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08</a:t>
            </a:r>
          </a:p>
        </p:txBody>
      </p:sp>
      <p:sp>
        <p:nvSpPr>
          <p:cNvPr id="3" name="title">
            <a:extLst xmlns:a="http://schemas.openxmlformats.org/drawingml/2006/main">
              <a:ext uri="{FF2B5EF4-FFF2-40B4-BE49-F238E27FC236}">
                <a16:creationId xmlns:a16="http://schemas.microsoft.com/office/drawing/2014/main" id="{1067CEDC-EEEE-4FDA-B217-3F39472BCC9D}"/>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FFFFFF"/>
                </a:solidFill>
                <a:latin typeface="Noto Sans"/>
                <a:ea typeface="Noto Sans"/>
                <a:cs typeface="Noto Sans"/>
              </a:defRPr>
            </a:pPr>
            <a:r>
              <a:rPr sz="3600" b="1">
                <a:solidFill>
                  <a:srgbClr val="FFFFFF"/>
                </a:solidFill>
                <a:latin typeface="Noto Sans"/>
                <a:ea typeface="Noto Sans"/>
                <a:cs typeface="Noto Sans"/>
              </a:rPr>
              <a:t>The bag-to-ride demo</a:t>
            </a:r>
          </a:p>
        </p:txBody>
      </p:sp>
      <p:sp>
        <p:nvSpPr>
          <p:cNvPr id="4" name="subtitle">
            <a:extLst xmlns:a="http://schemas.openxmlformats.org/drawingml/2006/main">
              <a:ext uri="{FF2B5EF4-FFF2-40B4-BE49-F238E27FC236}">
                <a16:creationId xmlns:a16="http://schemas.microsoft.com/office/drawing/2014/main" id="{DD8AE1B5-28E0-42B1-A81B-4C0AEAAF974E}"/>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EBFD3"/>
                </a:solidFill>
                <a:latin typeface="Noto Sans"/>
                <a:ea typeface="Noto Sans"/>
                <a:cs typeface="Noto Sans"/>
              </a:defRPr>
            </a:pPr>
            <a:r>
              <a:rPr sz="1875" b="0">
                <a:solidFill>
                  <a:srgbClr val="AEBFD3"/>
                </a:solidFill>
                <a:latin typeface="Noto Sans"/>
                <a:ea typeface="Noto Sans"/>
                <a:cs typeface="Noto Sans"/>
              </a:rPr>
              <a:t>One cancellation, a feasible split, and responsibility each helper accepts.</a:t>
            </a:r>
          </a:p>
        </p:txBody>
      </p:sp>
      <p:sp>
        <p:nvSpPr>
          <p:cNvPr id="5" name="next-label">
            <a:extLst xmlns:a="http://schemas.openxmlformats.org/drawingml/2006/main">
              <a:ext uri="{FF2B5EF4-FFF2-40B4-BE49-F238E27FC236}">
                <a16:creationId xmlns:a16="http://schemas.microsoft.com/office/drawing/2014/main" id="{468113A8-5AE9-4EA6-AD11-35F62859EDF6}"/>
              </a:ext>
            </a:extLst>
          </p:cNvPr>
          <p:cNvSpPr>
            <a:spLocks xmlns:a="http://schemas.openxmlformats.org/drawingml/2006/main" noGrp="1"/>
          </p:cNvSpPr>
          <p:nvPr/>
        </p:nvSpPr>
        <p:spPr>
          <a:xfrm xmlns:a="http://schemas.openxmlformats.org/drawingml/2006/main">
            <a:off x="609600" y="3009900"/>
            <a:ext cx="581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FFFFFF"/>
                </a:solidFill>
                <a:latin typeface="Noto Sans"/>
                <a:ea typeface="Noto Sans"/>
                <a:cs typeface="Noto Sans"/>
              </a:defRPr>
            </a:pPr>
            <a:r>
              <a:rPr sz="2475" b="1">
                <a:solidFill>
                  <a:srgbClr val="FFFFFF"/>
                </a:solidFill>
                <a:latin typeface="Noto Sans"/>
                <a:ea typeface="Noto Sans"/>
                <a:cs typeface="Noto Sans"/>
              </a:rPr>
              <a:t>Next steps</a:t>
            </a:r>
          </a:p>
        </p:txBody>
      </p:sp>
      <p:sp>
        <p:nvSpPr>
          <p:cNvPr id="6" name="next-one">
            <a:extLst xmlns:a="http://schemas.openxmlformats.org/drawingml/2006/main">
              <a:ext uri="{FF2B5EF4-FFF2-40B4-BE49-F238E27FC236}">
                <a16:creationId xmlns:a16="http://schemas.microsoft.com/office/drawing/2014/main" id="{92A01914-3AAE-4595-9E68-55CDE1A86E32}"/>
              </a:ext>
            </a:extLst>
          </p:cNvPr>
          <p:cNvSpPr>
            <a:spLocks xmlns:a="http://schemas.openxmlformats.org/drawingml/2006/main" noGrp="1"/>
          </p:cNvSpPr>
          <p:nvPr/>
        </p:nvSpPr>
        <p:spPr>
          <a:xfrm xmlns:a="http://schemas.openxmlformats.org/drawingml/2006/main">
            <a:off x="609600" y="37719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Record the public demo video</a:t>
            </a:r>
          </a:p>
        </p:txBody>
      </p:sp>
      <p:sp>
        <p:nvSpPr>
          <p:cNvPr id="7" name="next-two">
            <a:extLst xmlns:a="http://schemas.openxmlformats.org/drawingml/2006/main">
              <a:ext uri="{FF2B5EF4-FFF2-40B4-BE49-F238E27FC236}">
                <a16:creationId xmlns:a16="http://schemas.microsoft.com/office/drawing/2014/main" id="{73F7E7E0-B2F6-4A1E-8D87-1C8A53032E5D}"/>
              </a:ext>
            </a:extLst>
          </p:cNvPr>
          <p:cNvSpPr>
            <a:spLocks xmlns:a="http://schemas.openxmlformats.org/drawingml/2006/main" noGrp="1"/>
          </p:cNvSpPr>
          <p:nvPr/>
        </p:nvSpPr>
        <p:spPr>
          <a:xfrm xmlns:a="http://schemas.openxmlformats.org/drawingml/2006/main">
            <a:off x="609600" y="43624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Run the household pilot</a:t>
            </a:r>
          </a:p>
        </p:txBody>
      </p:sp>
      <p:sp>
        <p:nvSpPr>
          <p:cNvPr id="8" name="next-three">
            <a:extLst xmlns:a="http://schemas.openxmlformats.org/drawingml/2006/main">
              <a:ext uri="{FF2B5EF4-FFF2-40B4-BE49-F238E27FC236}">
                <a16:creationId xmlns:a16="http://schemas.microsoft.com/office/drawing/2014/main" id="{D2A4F653-8708-4096-9557-867165A08305}"/>
              </a:ext>
            </a:extLst>
          </p:cNvPr>
          <p:cNvSpPr>
            <a:spLocks xmlns:a="http://schemas.openxmlformats.org/drawingml/2006/main" noGrp="1"/>
          </p:cNvSpPr>
          <p:nvPr/>
        </p:nvSpPr>
        <p:spPr>
          <a:xfrm xmlns:a="http://schemas.openxmlformats.org/drawingml/2006/main">
            <a:off x="609600" y="49530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Complete live Alexa+ onboarding</a:t>
            </a:r>
          </a:p>
        </p:txBody>
      </p:sp>
      <p:sp>
        <p:nvSpPr>
          <p:cNvPr id="9" name="contribution-label">
            <a:extLst xmlns:a="http://schemas.openxmlformats.org/drawingml/2006/main">
              <a:ext uri="{FF2B5EF4-FFF2-40B4-BE49-F238E27FC236}">
                <a16:creationId xmlns:a16="http://schemas.microsoft.com/office/drawing/2014/main" id="{C2DD8F23-ACC4-4DDC-BCBB-33C593DC8996}"/>
              </a:ext>
            </a:extLst>
          </p:cNvPr>
          <p:cNvSpPr>
            <a:spLocks xmlns:a="http://schemas.openxmlformats.org/drawingml/2006/main" noGrp="1"/>
          </p:cNvSpPr>
          <p:nvPr/>
        </p:nvSpPr>
        <p:spPr>
          <a:xfrm xmlns:a="http://schemas.openxmlformats.org/drawingml/2006/main">
            <a:off x="8905875" y="3086100"/>
            <a:ext cx="26765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AEBFD3"/>
                </a:solidFill>
                <a:latin typeface="Noto Sans"/>
                <a:ea typeface="Noto Sans"/>
                <a:cs typeface="Noto Sans"/>
              </a:defRPr>
            </a:pPr>
            <a:r>
              <a:rPr sz="1800" b="1">
                <a:solidFill>
                  <a:srgbClr val="AEBFD3"/>
                </a:solidFill>
                <a:latin typeface="Noto Sans"/>
                <a:ea typeface="Noto Sans"/>
                <a:cs typeface="Noto Sans"/>
              </a:rPr>
              <a:t>Open Source</a:t>
            </a:r>
          </a:p>
        </p:txBody>
      </p:sp>
      <p:sp>
        <p:nvSpPr>
          <p:cNvPr id="10" name="contribution-name">
            <a:extLst xmlns:a="http://schemas.openxmlformats.org/drawingml/2006/main">
              <a:ext uri="{FF2B5EF4-FFF2-40B4-BE49-F238E27FC236}">
                <a16:creationId xmlns:a16="http://schemas.microsoft.com/office/drawing/2014/main" id="{59DCE214-CF2D-4517-9D21-53859BCF3755}"/>
              </a:ext>
            </a:extLst>
          </p:cNvPr>
          <p:cNvSpPr>
            <a:spLocks xmlns:a="http://schemas.openxmlformats.org/drawingml/2006/main" noGrp="1"/>
          </p:cNvSpPr>
          <p:nvPr/>
        </p:nvSpPr>
        <p:spPr>
          <a:xfrm xmlns:a="http://schemas.openxmlformats.org/drawingml/2006/main">
            <a:off x="8905875" y="3609975"/>
            <a:ext cx="26765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@kindhandoff/guard</a:t>
            </a:r>
          </a:p>
        </p:txBody>
      </p:sp>
      <p:sp>
        <p:nvSpPr>
          <p:cNvPr id="11" name="contribution-role">
            <a:extLst xmlns:a="http://schemas.openxmlformats.org/drawingml/2006/main">
              <a:ext uri="{FF2B5EF4-FFF2-40B4-BE49-F238E27FC236}">
                <a16:creationId xmlns:a16="http://schemas.microsoft.com/office/drawing/2014/main" id="{2CF92353-11E7-46C0-AECE-4353DE0B57CB}"/>
              </a:ext>
            </a:extLst>
          </p:cNvPr>
          <p:cNvSpPr>
            <a:spLocks xmlns:a="http://schemas.openxmlformats.org/drawingml/2006/main" noGrp="1"/>
          </p:cNvSpPr>
          <p:nvPr/>
        </p:nvSpPr>
        <p:spPr>
          <a:xfrm xmlns:a="http://schemas.openxmlformats.org/drawingml/2006/main">
            <a:off x="8905875" y="4543425"/>
            <a:ext cx="26765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State transitions</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Coverage + ranking</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MIT license</a:t>
            </a:r>
          </a:p>
        </p:txBody>
      </p:sp>
      <p:sp>
        <p:nvSpPr>
          <p:cNvPr id="12" name="repo-link">
            <a:extLst xmlns:a="http://schemas.openxmlformats.org/drawingml/2006/main">
              <a:ext uri="{FF2B5EF4-FFF2-40B4-BE49-F238E27FC236}">
                <a16:creationId xmlns:a16="http://schemas.microsoft.com/office/drawing/2014/main" id="{DF17C894-E508-44F9-8230-5D74AEF9C80A}"/>
              </a:ext>
            </a:extLst>
          </p:cNvPr>
          <p:cNvSpPr>
            <a:spLocks xmlns:a="http://schemas.openxmlformats.org/drawingml/2006/main" noGrp="1"/>
          </p:cNvSpPr>
          <p:nvPr/>
        </p:nvSpPr>
        <p:spPr>
          <a:xfrm xmlns:a="http://schemas.openxmlformats.org/drawingml/2006/main">
            <a:off x="609600" y="57721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Noto Sans"/>
                <a:ea typeface="Noto Sans"/>
                <a:cs typeface="Noto Sans"/>
              </a:defRPr>
            </a:pPr>
            <a:r>
              <a:rPr sz="1350" b="0">
                <a:solidFill>
                  <a:srgbClr val="FFFFFF"/>
                </a:solidFill>
                <a:latin typeface="Noto Sans"/>
                <a:ea typeface="Noto Sans"/>
                <a:cs typeface="Noto Sans"/>
                <a:hlinkClick xmlns:r="http://schemas.openxmlformats.org/officeDocument/2006/relationships" r:id="R64360b5a980d4b36"/>
              </a:rPr>
              <a:t>github.com/shi1720/Amazon-Developer-Hackathon</a:t>
            </a:r>
          </a:p>
        </p:txBody>
      </p:sp>
      <p:sp>
        <p:nvSpPr>
          <p:cNvPr id="13" name="preview-url">
            <a:extLst xmlns:a="http://schemas.openxmlformats.org/drawingml/2006/main">
              <a:ext uri="{FF2B5EF4-FFF2-40B4-BE49-F238E27FC236}">
                <a16:creationId xmlns:a16="http://schemas.microsoft.com/office/drawing/2014/main" id="{219BE0E1-BD54-4863-9108-4550FF80BE4A}"/>
              </a:ext>
            </a:extLst>
          </p:cNvPr>
          <p:cNvSpPr>
            <a:spLocks xmlns:a="http://schemas.openxmlformats.org/drawingml/2006/main" noGrp="1"/>
          </p:cNvSpPr>
          <p:nvPr/>
        </p:nvSpPr>
        <p:spPr>
          <a:xfrm xmlns:a="http://schemas.openxmlformats.org/drawingml/2006/main">
            <a:off x="609600" y="61436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AEBFD3"/>
                </a:solidFill>
                <a:latin typeface="Noto Sans"/>
                <a:ea typeface="Noto Sans"/>
                <a:cs typeface="Noto Sans"/>
              </a:defRPr>
            </a:pPr>
            <a:r>
              <a:rPr sz="1275" b="0">
                <a:solidFill>
                  <a:srgbClr val="AEBFD3"/>
                </a:solidFill>
                <a:latin typeface="Noto Sans"/>
                <a:ea typeface="Noto Sans"/>
                <a:cs typeface="Noto Sans"/>
              </a:rPr>
              <a:t>Preview, deployment pending: shivam-amazon-hackathon.sg127977958.chatgpt.site</a:t>
            </a:r>
          </a:p>
        </p:txBody>
      </p:sp>
    </p:spTree>
    <p:extLst>
      <p:ext uri="{BB962C8B-B14F-4D97-AF65-F5344CB8AC3E}">
        <p14:creationId xmlns:p14="http://schemas.microsoft.com/office/powerpoint/2010/main" val="558452029"/>
      </p:ext>
    </p:extLst>
  </p:cSld>
</p:sld>
</file>

<file path=ppt/theme/theme1.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Shivam Gupta</dc:creator>
  <cp:lastModifiedBy>Shivam Gupta</cp:lastModifiedBy>
  <dc:title>KindHandoff - Pitch and Demo</dc:title>
  <dcterms:created xsi:type="dcterms:W3CDTF">2026-09-15T15:48:43.7140000Z</dcterms:created>
  <dcterms:modified xsi:type="dcterms:W3CDTF">2026-09-15T15:48:43.7140000Z</dcterms:modified>
  <dc:subject>Practical family-support plan recovery</dc:subject>
</cp:coreProperties>
</file>